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94" r:id="rId16"/>
    <p:sldId id="270" r:id="rId17"/>
    <p:sldId id="271" r:id="rId18"/>
    <p:sldId id="272" r:id="rId19"/>
    <p:sldId id="273" r:id="rId20"/>
    <p:sldId id="281" r:id="rId21"/>
    <p:sldId id="282" r:id="rId22"/>
    <p:sldId id="284" r:id="rId23"/>
    <p:sldId id="285" r:id="rId24"/>
    <p:sldId id="286" r:id="rId25"/>
    <p:sldId id="288" r:id="rId26"/>
    <p:sldId id="289" r:id="rId27"/>
    <p:sldId id="290" r:id="rId28"/>
    <p:sldId id="287" r:id="rId29"/>
    <p:sldId id="291" r:id="rId30"/>
    <p:sldId id="292" r:id="rId31"/>
    <p:sldId id="293" r:id="rId32"/>
    <p:sldId id="280" r:id="rId33"/>
  </p:sldIdLst>
  <p:sldSz cx="9144000" cy="5715000" type="screen16x10"/>
  <p:notesSz cx="6858000" cy="9144000"/>
  <p:embeddedFontLst>
    <p:embeddedFont>
      <p:font typeface="Garamond" panose="02020404030301010803" pitchFamily="18"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80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g5rPHohTu6R7Y+2axof2RY+46t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54FDB1-58D2-47DA-A01A-7F442D329337}">
  <a:tblStyle styleId="{1E54FDB1-58D2-47DA-A01A-7F442D32933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1210" y="293"/>
      </p:cViewPr>
      <p:guideLst>
        <p:guide orient="horz" pos="2160"/>
        <p:guide pos="2880"/>
        <p:guide orient="horz" pos="18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p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p1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1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1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1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1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1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1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2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7"/>
          <p:cNvSpPr txBox="1">
            <a:spLocks noGrp="1"/>
          </p:cNvSpPr>
          <p:nvPr>
            <p:ph type="ctrTitle"/>
          </p:nvPr>
        </p:nvSpPr>
        <p:spPr>
          <a:xfrm>
            <a:off x="685800" y="1775361"/>
            <a:ext cx="7772400" cy="1225021"/>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7"/>
          <p:cNvSpPr txBox="1">
            <a:spLocks noGrp="1"/>
          </p:cNvSpPr>
          <p:nvPr>
            <p:ph type="subTitle" idx="1"/>
          </p:nvPr>
        </p:nvSpPr>
        <p:spPr>
          <a:xfrm>
            <a:off x="1371600" y="3238500"/>
            <a:ext cx="6400800" cy="14605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7"/>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7"/>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7"/>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28"/>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8"/>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8"/>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457200" y="228866"/>
            <a:ext cx="8229600" cy="9525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9"/>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9"/>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9"/>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457200" y="228866"/>
            <a:ext cx="8229600" cy="9525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600"/>
              <a:buFont typeface="Times New Roman"/>
              <a:buNone/>
              <a:defRPr sz="3600">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333501"/>
            <a:ext cx="8229600" cy="3771636"/>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atin typeface="Times New Roman"/>
                <a:ea typeface="Times New Roman"/>
                <a:cs typeface="Times New Roman"/>
                <a:sym typeface="Times New Roman"/>
              </a:defRPr>
            </a:lvl1pPr>
            <a:lvl2pPr marL="914400" lvl="1" indent="-381000" algn="l">
              <a:lnSpc>
                <a:spcPct val="100000"/>
              </a:lnSpc>
              <a:spcBef>
                <a:spcPts val="480"/>
              </a:spcBef>
              <a:spcAft>
                <a:spcPts val="0"/>
              </a:spcAft>
              <a:buClr>
                <a:schemeClr val="dk1"/>
              </a:buClr>
              <a:buSzPts val="2400"/>
              <a:buChar char="–"/>
              <a:defRPr sz="2400">
                <a:latin typeface="Times New Roman"/>
                <a:ea typeface="Times New Roman"/>
                <a:cs typeface="Times New Roman"/>
                <a:sym typeface="Times New Roman"/>
              </a:defRPr>
            </a:lvl2pPr>
            <a:lvl3pPr marL="1371600" lvl="2" indent="-355600" algn="l">
              <a:lnSpc>
                <a:spcPct val="100000"/>
              </a:lnSpc>
              <a:spcBef>
                <a:spcPts val="400"/>
              </a:spcBef>
              <a:spcAft>
                <a:spcPts val="0"/>
              </a:spcAft>
              <a:buClr>
                <a:schemeClr val="dk1"/>
              </a:buClr>
              <a:buSzPts val="2000"/>
              <a:buChar char="•"/>
              <a:defRPr sz="2000">
                <a:latin typeface="Times New Roman"/>
                <a:ea typeface="Times New Roman"/>
                <a:cs typeface="Times New Roman"/>
                <a:sym typeface="Times New Roman"/>
              </a:defRPr>
            </a:lvl3pPr>
            <a:lvl4pPr marL="1828800" lvl="3" indent="-342900" algn="l">
              <a:lnSpc>
                <a:spcPct val="100000"/>
              </a:lnSpc>
              <a:spcBef>
                <a:spcPts val="360"/>
              </a:spcBef>
              <a:spcAft>
                <a:spcPts val="0"/>
              </a:spcAft>
              <a:buClr>
                <a:schemeClr val="dk1"/>
              </a:buClr>
              <a:buSzPts val="1800"/>
              <a:buChar char="–"/>
              <a:defRPr sz="1800">
                <a:latin typeface="Times New Roman"/>
                <a:ea typeface="Times New Roman"/>
                <a:cs typeface="Times New Roman"/>
                <a:sym typeface="Times New Roman"/>
              </a:defRPr>
            </a:lvl4pPr>
            <a:lvl5pPr marL="2286000" lvl="4" indent="-342900" algn="l">
              <a:lnSpc>
                <a:spcPct val="100000"/>
              </a:lnSpc>
              <a:spcBef>
                <a:spcPts val="360"/>
              </a:spcBef>
              <a:spcAft>
                <a:spcPts val="0"/>
              </a:spcAft>
              <a:buClr>
                <a:schemeClr val="dk1"/>
              </a:buClr>
              <a:buSzPts val="1800"/>
              <a:buChar char="»"/>
              <a:defRPr sz="1800">
                <a:latin typeface="Times New Roman"/>
                <a:ea typeface="Times New Roman"/>
                <a:cs typeface="Times New Roman"/>
                <a:sym typeface="Times New Roman"/>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30"/>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0"/>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0"/>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31"/>
          <p:cNvSpPr txBox="1">
            <a:spLocks noGrp="1"/>
          </p:cNvSpPr>
          <p:nvPr>
            <p:ph type="title"/>
          </p:nvPr>
        </p:nvSpPr>
        <p:spPr>
          <a:xfrm>
            <a:off x="722313" y="3672418"/>
            <a:ext cx="7772400" cy="113506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1"/>
          <p:cNvSpPr txBox="1">
            <a:spLocks noGrp="1"/>
          </p:cNvSpPr>
          <p:nvPr>
            <p:ph type="body" idx="1"/>
          </p:nvPr>
        </p:nvSpPr>
        <p:spPr>
          <a:xfrm>
            <a:off x="722313" y="2422261"/>
            <a:ext cx="7772400" cy="1250156"/>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9" name="Google Shape;39;p31"/>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1"/>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1"/>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32"/>
          <p:cNvSpPr txBox="1">
            <a:spLocks noGrp="1"/>
          </p:cNvSpPr>
          <p:nvPr>
            <p:ph type="title"/>
          </p:nvPr>
        </p:nvSpPr>
        <p:spPr>
          <a:xfrm>
            <a:off x="457200" y="228866"/>
            <a:ext cx="8229600" cy="9525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2"/>
          <p:cNvSpPr txBox="1">
            <a:spLocks noGrp="1"/>
          </p:cNvSpPr>
          <p:nvPr>
            <p:ph type="body" idx="1"/>
          </p:nvPr>
        </p:nvSpPr>
        <p:spPr>
          <a:xfrm>
            <a:off x="457200" y="1333501"/>
            <a:ext cx="4038600" cy="3771636"/>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5" name="Google Shape;45;p32"/>
          <p:cNvSpPr txBox="1">
            <a:spLocks noGrp="1"/>
          </p:cNvSpPr>
          <p:nvPr>
            <p:ph type="body" idx="2"/>
          </p:nvPr>
        </p:nvSpPr>
        <p:spPr>
          <a:xfrm>
            <a:off x="4648200" y="1333501"/>
            <a:ext cx="4038600" cy="3771636"/>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6" name="Google Shape;46;p32"/>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2"/>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2"/>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33"/>
          <p:cNvSpPr txBox="1">
            <a:spLocks noGrp="1"/>
          </p:cNvSpPr>
          <p:nvPr>
            <p:ph type="title"/>
          </p:nvPr>
        </p:nvSpPr>
        <p:spPr>
          <a:xfrm>
            <a:off x="457200" y="228866"/>
            <a:ext cx="8229600" cy="9525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3"/>
          <p:cNvSpPr txBox="1">
            <a:spLocks noGrp="1"/>
          </p:cNvSpPr>
          <p:nvPr>
            <p:ph type="body" idx="1"/>
          </p:nvPr>
        </p:nvSpPr>
        <p:spPr>
          <a:xfrm>
            <a:off x="457200" y="1279261"/>
            <a:ext cx="4040188" cy="533136"/>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2" name="Google Shape;52;p33"/>
          <p:cNvSpPr txBox="1">
            <a:spLocks noGrp="1"/>
          </p:cNvSpPr>
          <p:nvPr>
            <p:ph type="body" idx="2"/>
          </p:nvPr>
        </p:nvSpPr>
        <p:spPr>
          <a:xfrm>
            <a:off x="457200" y="1812396"/>
            <a:ext cx="4040188" cy="32927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3" name="Google Shape;53;p33"/>
          <p:cNvSpPr txBox="1">
            <a:spLocks noGrp="1"/>
          </p:cNvSpPr>
          <p:nvPr>
            <p:ph type="body" idx="3"/>
          </p:nvPr>
        </p:nvSpPr>
        <p:spPr>
          <a:xfrm>
            <a:off x="4645033" y="1279261"/>
            <a:ext cx="4041775" cy="533136"/>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4" name="Google Shape;54;p33"/>
          <p:cNvSpPr txBox="1">
            <a:spLocks noGrp="1"/>
          </p:cNvSpPr>
          <p:nvPr>
            <p:ph type="body" idx="4"/>
          </p:nvPr>
        </p:nvSpPr>
        <p:spPr>
          <a:xfrm>
            <a:off x="4645033" y="1812396"/>
            <a:ext cx="4041775" cy="32927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5" name="Google Shape;55;p33"/>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3"/>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3"/>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4"/>
          <p:cNvSpPr txBox="1">
            <a:spLocks noGrp="1"/>
          </p:cNvSpPr>
          <p:nvPr>
            <p:ph type="title"/>
          </p:nvPr>
        </p:nvSpPr>
        <p:spPr>
          <a:xfrm>
            <a:off x="457214" y="227541"/>
            <a:ext cx="3008313" cy="968376"/>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4"/>
          <p:cNvSpPr txBox="1">
            <a:spLocks noGrp="1"/>
          </p:cNvSpPr>
          <p:nvPr>
            <p:ph type="body" idx="1"/>
          </p:nvPr>
        </p:nvSpPr>
        <p:spPr>
          <a:xfrm>
            <a:off x="3575050" y="227546"/>
            <a:ext cx="5111750" cy="4877594"/>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34"/>
          <p:cNvSpPr txBox="1">
            <a:spLocks noGrp="1"/>
          </p:cNvSpPr>
          <p:nvPr>
            <p:ph type="body" idx="2"/>
          </p:nvPr>
        </p:nvSpPr>
        <p:spPr>
          <a:xfrm>
            <a:off x="457214" y="1195920"/>
            <a:ext cx="3008313" cy="3909219"/>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34"/>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4"/>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5"/>
          <p:cNvSpPr txBox="1">
            <a:spLocks noGrp="1"/>
          </p:cNvSpPr>
          <p:nvPr>
            <p:ph type="title"/>
          </p:nvPr>
        </p:nvSpPr>
        <p:spPr>
          <a:xfrm>
            <a:off x="1792288" y="4000500"/>
            <a:ext cx="5486400" cy="47228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5"/>
          <p:cNvSpPr>
            <a:spLocks noGrp="1"/>
          </p:cNvSpPr>
          <p:nvPr>
            <p:ph type="pic" idx="2"/>
          </p:nvPr>
        </p:nvSpPr>
        <p:spPr>
          <a:xfrm>
            <a:off x="1792288" y="510646"/>
            <a:ext cx="5486400" cy="3429000"/>
          </a:xfrm>
          <a:prstGeom prst="rect">
            <a:avLst/>
          </a:prstGeom>
          <a:noFill/>
          <a:ln>
            <a:noFill/>
          </a:ln>
        </p:spPr>
      </p:sp>
      <p:sp>
        <p:nvSpPr>
          <p:cNvPr id="68" name="Google Shape;68;p35"/>
          <p:cNvSpPr txBox="1">
            <a:spLocks noGrp="1"/>
          </p:cNvSpPr>
          <p:nvPr>
            <p:ph type="body" idx="1"/>
          </p:nvPr>
        </p:nvSpPr>
        <p:spPr>
          <a:xfrm>
            <a:off x="1792288" y="4472788"/>
            <a:ext cx="5486400" cy="670719"/>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35"/>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457200" y="228866"/>
            <a:ext cx="8229600" cy="9525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6"/>
          <p:cNvSpPr txBox="1">
            <a:spLocks noGrp="1"/>
          </p:cNvSpPr>
          <p:nvPr>
            <p:ph type="body" idx="1"/>
          </p:nvPr>
        </p:nvSpPr>
        <p:spPr>
          <a:xfrm rot="5400000">
            <a:off x="2686182" y="-895481"/>
            <a:ext cx="3771636"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6"/>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6"/>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7"/>
          <p:cNvSpPr txBox="1">
            <a:spLocks noGrp="1"/>
          </p:cNvSpPr>
          <p:nvPr>
            <p:ph type="title"/>
          </p:nvPr>
        </p:nvSpPr>
        <p:spPr>
          <a:xfrm rot="5400000">
            <a:off x="5219964" y="1638307"/>
            <a:ext cx="4876271"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7"/>
          <p:cNvSpPr txBox="1">
            <a:spLocks noGrp="1"/>
          </p:cNvSpPr>
          <p:nvPr>
            <p:ph type="body" idx="1"/>
          </p:nvPr>
        </p:nvSpPr>
        <p:spPr>
          <a:xfrm rot="5400000">
            <a:off x="1028965" y="-342892"/>
            <a:ext cx="4876271"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7"/>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7"/>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7"/>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457200" y="228866"/>
            <a:ext cx="8229600" cy="9525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6"/>
          <p:cNvSpPr txBox="1">
            <a:spLocks noGrp="1"/>
          </p:cNvSpPr>
          <p:nvPr>
            <p:ph type="body" idx="1"/>
          </p:nvPr>
        </p:nvSpPr>
        <p:spPr>
          <a:xfrm>
            <a:off x="457200" y="1333501"/>
            <a:ext cx="8229600" cy="3771636"/>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6"/>
          <p:cNvSpPr txBox="1">
            <a:spLocks noGrp="1"/>
          </p:cNvSpPr>
          <p:nvPr>
            <p:ph type="dt" idx="10"/>
          </p:nvPr>
        </p:nvSpPr>
        <p:spPr>
          <a:xfrm>
            <a:off x="457200" y="5296965"/>
            <a:ext cx="2133600" cy="304271"/>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6"/>
          <p:cNvSpPr txBox="1">
            <a:spLocks noGrp="1"/>
          </p:cNvSpPr>
          <p:nvPr>
            <p:ph type="ftr" idx="11"/>
          </p:nvPr>
        </p:nvSpPr>
        <p:spPr>
          <a:xfrm>
            <a:off x="3124200" y="5296965"/>
            <a:ext cx="2895600" cy="304271"/>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6"/>
          <p:cNvSpPr txBox="1">
            <a:spLocks noGrp="1"/>
          </p:cNvSpPr>
          <p:nvPr>
            <p:ph type="sldNum" idx="12"/>
          </p:nvPr>
        </p:nvSpPr>
        <p:spPr>
          <a:xfrm>
            <a:off x="6553200" y="5296965"/>
            <a:ext cx="2133600" cy="304271"/>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Natural_language_processing"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https://spacy.io/" TargetMode="External"/><Relationship Id="rId4" Type="http://schemas.openxmlformats.org/officeDocument/2006/relationships/hyperlink" Target="https://corenlp.run/"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nytimes.com/2018/08/13/us/politics/peter-strzok-fired-fbi.html?hp&amp;action=click&amp;pgtype=Homepage&amp;clickSource=story-heading&amp;module=first-column-region&amp;region=top-news&amp;WT.nav=top-news"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hyperlink" Target="https://spacy.io/api/top-level#displacy.render"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t="14897"/>
          <a:stretch/>
        </p:blipFill>
        <p:spPr>
          <a:xfrm>
            <a:off x="0" y="1485899"/>
            <a:ext cx="9144000" cy="3325349"/>
          </a:xfrm>
          <a:prstGeom prst="rect">
            <a:avLst/>
          </a:prstGeom>
          <a:noFill/>
          <a:ln>
            <a:noFill/>
          </a:ln>
        </p:spPr>
      </p:pic>
      <p:sp>
        <p:nvSpPr>
          <p:cNvPr id="90" name="Google Shape;90;p1"/>
          <p:cNvSpPr txBox="1"/>
          <p:nvPr/>
        </p:nvSpPr>
        <p:spPr>
          <a:xfrm>
            <a:off x="1181100" y="716458"/>
            <a:ext cx="6781800"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IN" sz="4400" b="0" i="0" u="none" strike="noStrike" cap="none">
                <a:solidFill>
                  <a:srgbClr val="5F497A"/>
                </a:solidFill>
                <a:latin typeface="Garamond"/>
                <a:ea typeface="Garamond"/>
                <a:cs typeface="Garamond"/>
                <a:sym typeface="Garamond"/>
              </a:rPr>
              <a:t>Natural Language Processing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4"/>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7144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367715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Rectangle 10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459968"/>
            <a:ext cx="8249304" cy="38487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Google Shape;95;p2"/>
          <p:cNvSpPr txBox="1"/>
          <p:nvPr/>
        </p:nvSpPr>
        <p:spPr>
          <a:xfrm>
            <a:off x="1143000" y="1077781"/>
            <a:ext cx="6858000" cy="2728827"/>
          </a:xfrm>
          <a:prstGeom prst="rect">
            <a:avLst/>
          </a:prstGeom>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buClr>
                <a:srgbClr val="000000"/>
              </a:buClr>
              <a:buSzPts val="3500"/>
            </a:pPr>
            <a:r>
              <a:rPr lang="en-US" sz="5700" b="0" i="0" u="none" strike="noStrike" kern="1200" cap="none">
                <a:solidFill>
                  <a:schemeClr val="tx1"/>
                </a:solidFill>
                <a:latin typeface="+mj-lt"/>
                <a:ea typeface="+mj-ea"/>
                <a:cs typeface="+mj-cs"/>
                <a:sym typeface="Garamond"/>
              </a:rPr>
              <a:t>Named Entity Recognition</a:t>
            </a:r>
            <a:endParaRPr lang="en-US" sz="5700" b="0" i="0" u="none" strike="noStrike" kern="1200" cap="none">
              <a:solidFill>
                <a:schemeClr val="tx1"/>
              </a:solidFill>
              <a:latin typeface="+mj-lt"/>
              <a:ea typeface="+mj-ea"/>
              <a:cs typeface="+mj-cs"/>
              <a:sym typeface="Arial"/>
            </a:endParaRPr>
          </a:p>
        </p:txBody>
      </p:sp>
      <p:cxnSp>
        <p:nvCxnSpPr>
          <p:cNvPr id="106" name="Straight Connector 10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5295590"/>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p:nvPr/>
        </p:nvSpPr>
        <p:spPr>
          <a:xfrm>
            <a:off x="304800" y="1104900"/>
            <a:ext cx="8330100" cy="3469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rgbClr val="292929"/>
                </a:solidFill>
                <a:latin typeface="Garamond"/>
                <a:ea typeface="Garamond"/>
                <a:cs typeface="Garamond"/>
                <a:sym typeface="Garamond"/>
              </a:rPr>
              <a:t>Named Entity Recognition (NER) sometimes referred to as entity chunking, extraction, or identification  is the </a:t>
            </a:r>
            <a:r>
              <a:rPr lang="en-IN" sz="1800" b="1" i="0" u="none" strike="noStrike" cap="none">
                <a:solidFill>
                  <a:srgbClr val="292929"/>
                </a:solidFill>
                <a:latin typeface="Garamond"/>
                <a:ea typeface="Garamond"/>
                <a:cs typeface="Garamond"/>
                <a:sym typeface="Garamond"/>
              </a:rPr>
              <a:t>task of identifying and categorizing key information (</a:t>
            </a:r>
            <a:r>
              <a:rPr lang="en-IN" sz="1800" b="0" i="0" u="none" strike="noStrike" cap="none">
                <a:solidFill>
                  <a:srgbClr val="292929"/>
                </a:solidFill>
                <a:latin typeface="Garamond"/>
                <a:ea typeface="Garamond"/>
                <a:cs typeface="Garamond"/>
                <a:sym typeface="Garamond"/>
              </a:rPr>
              <a:t>entities) in text.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292929"/>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rgbClr val="292929"/>
                </a:solidFill>
                <a:latin typeface="Garamond"/>
                <a:ea typeface="Garamond"/>
                <a:cs typeface="Garamond"/>
                <a:sym typeface="Garamond"/>
              </a:rPr>
              <a:t>A named entity is a “real-world object” that’s assigned a name – for example, a person, a country, a product or a book title.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292929"/>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NER is a form of natural language processing (NLP), a subfield of artificial intelligence. NLP is concerned with computers processing and analysing natural language, i.e., any language that has developed naturally, rather than artificially, such as with computer coding languages</a:t>
            </a:r>
            <a:endParaRPr sz="1800" b="0" i="0" u="none" strike="noStrike" cap="none">
              <a:solidFill>
                <a:schemeClr val="dk1"/>
              </a:solidFill>
              <a:latin typeface="Garamond"/>
              <a:ea typeface="Garamond"/>
              <a:cs typeface="Garamond"/>
              <a:sym typeface="Garamo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4"/>
          <p:cNvSpPr/>
          <p:nvPr/>
        </p:nvSpPr>
        <p:spPr>
          <a:xfrm>
            <a:off x="169164" y="800100"/>
            <a:ext cx="8805672" cy="424731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Named-entity recognition (NER) is a subtask of information extraction that seeks to locate and classify named entities mentioned in unstructured text into pre-defined categories such as person names, organizations, locations, medical codes, time expressions, quantities, monetary values, percentages, etc.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Most research on NER systems has been structured as taking an unannotated block of text, such as this one: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“Jim bought 300 shares of Acme Corp. in 2006”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And producing an annotated block of text that highlights the names of entities: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[Jim]</a:t>
            </a:r>
            <a:r>
              <a:rPr lang="en-IN" sz="1800" b="1" i="0" u="none" strike="noStrike" cap="none">
                <a:solidFill>
                  <a:srgbClr val="D883FF"/>
                </a:solidFill>
                <a:latin typeface="Garamond"/>
                <a:ea typeface="Garamond"/>
                <a:cs typeface="Garamond"/>
                <a:sym typeface="Garamond"/>
              </a:rPr>
              <a:t>Person</a:t>
            </a:r>
            <a:r>
              <a:rPr lang="en-IN" sz="1800" b="0" i="0" u="none" strike="noStrike" cap="none">
                <a:solidFill>
                  <a:schemeClr val="dk1"/>
                </a:solidFill>
                <a:latin typeface="Garamond"/>
                <a:ea typeface="Garamond"/>
                <a:cs typeface="Garamond"/>
                <a:sym typeface="Garamond"/>
              </a:rPr>
              <a:t> bought 300 shares of [Acme Corp.]</a:t>
            </a:r>
            <a:r>
              <a:rPr lang="en-IN" sz="1800" b="1" i="0" u="none" strike="noStrike" cap="none">
                <a:solidFill>
                  <a:srgbClr val="D883FF"/>
                </a:solidFill>
                <a:latin typeface="Garamond"/>
                <a:ea typeface="Garamond"/>
                <a:cs typeface="Garamond"/>
                <a:sym typeface="Garamond"/>
              </a:rPr>
              <a:t>Organization</a:t>
            </a:r>
            <a:r>
              <a:rPr lang="en-IN" sz="1800" b="0" i="0" u="none" strike="noStrike" cap="none">
                <a:solidFill>
                  <a:schemeClr val="dk1"/>
                </a:solidFill>
                <a:latin typeface="Garamond"/>
                <a:ea typeface="Garamond"/>
                <a:cs typeface="Garamond"/>
                <a:sym typeface="Garamond"/>
              </a:rPr>
              <a:t> in [2006]</a:t>
            </a:r>
            <a:r>
              <a:rPr lang="en-IN" sz="1800" b="1" i="0" u="none" strike="noStrike" cap="none">
                <a:solidFill>
                  <a:srgbClr val="D883FF"/>
                </a:solidFill>
                <a:latin typeface="Garamond"/>
                <a:ea typeface="Garamond"/>
                <a:cs typeface="Garamond"/>
                <a:sym typeface="Garamond"/>
              </a:rPr>
              <a:t>Time</a:t>
            </a:r>
            <a:r>
              <a:rPr lang="en-IN" sz="1800" b="0" i="0" u="none" strike="noStrike" cap="none">
                <a:solidFill>
                  <a:schemeClr val="dk1"/>
                </a:solidFill>
                <a:latin typeface="Garamond"/>
                <a:ea typeface="Garamond"/>
                <a:cs typeface="Garamond"/>
                <a:sym typeface="Garamond"/>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p:nvPr/>
        </p:nvSpPr>
        <p:spPr>
          <a:xfrm>
            <a:off x="73386" y="876300"/>
            <a:ext cx="8476488" cy="328051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IN" sz="2000" b="0" i="0" u="none" strike="noStrike" cap="none">
                <a:solidFill>
                  <a:schemeClr val="dk1"/>
                </a:solidFill>
                <a:latin typeface="Garamond"/>
                <a:ea typeface="Garamond"/>
                <a:cs typeface="Garamond"/>
                <a:sym typeface="Garamond"/>
              </a:rPr>
              <a:t>NER is used in many fields in </a:t>
            </a:r>
            <a:r>
              <a:rPr lang="en-IN" sz="2000" b="0" i="0" u="sng" strike="noStrike" cap="none">
                <a:solidFill>
                  <a:schemeClr val="dk1"/>
                </a:solidFill>
                <a:latin typeface="Garamond"/>
                <a:ea typeface="Garamond"/>
                <a:cs typeface="Garamond"/>
                <a:sym typeface="Garamond"/>
                <a:hlinkClick r:id="rId3">
                  <a:extLst>
                    <a:ext uri="{A12FA001-AC4F-418D-AE19-62706E023703}">
                      <ahyp:hlinkClr xmlns:ahyp="http://schemas.microsoft.com/office/drawing/2018/hyperlinkcolor" val="tx"/>
                    </a:ext>
                  </a:extLst>
                </a:hlinkClick>
              </a:rPr>
              <a:t>Natural Language Processing</a:t>
            </a:r>
            <a:r>
              <a:rPr lang="en-IN" sz="2000" b="0" i="0" u="none" strike="noStrike" cap="none">
                <a:solidFill>
                  <a:schemeClr val="dk1"/>
                </a:solidFill>
                <a:latin typeface="Garamond"/>
                <a:ea typeface="Garamond"/>
                <a:cs typeface="Garamond"/>
                <a:sym typeface="Garamond"/>
              </a:rPr>
              <a:t> (NLP), and it can help answering many real-world questions, such as: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2000"/>
              <a:buFont typeface="Arial"/>
              <a:buNone/>
            </a:pPr>
            <a:endParaRPr sz="2000" b="0" i="0" u="none" strike="noStrike" cap="none">
              <a:solidFill>
                <a:schemeClr val="dk1"/>
              </a:solidFill>
              <a:latin typeface="Garamond"/>
              <a:ea typeface="Garamond"/>
              <a:cs typeface="Garamond"/>
              <a:sym typeface="Garamond"/>
            </a:endParaRPr>
          </a:p>
          <a:p>
            <a:pPr marL="0" marR="0" lvl="0" indent="0" algn="l" rtl="0">
              <a:lnSpc>
                <a:spcPct val="150000"/>
              </a:lnSpc>
              <a:spcBef>
                <a:spcPts val="0"/>
              </a:spcBef>
              <a:spcAft>
                <a:spcPts val="0"/>
              </a:spcAft>
              <a:buClr>
                <a:schemeClr val="dk1"/>
              </a:buClr>
              <a:buSzPts val="2000"/>
              <a:buFont typeface="Arial"/>
              <a:buChar char="•"/>
            </a:pPr>
            <a:r>
              <a:rPr lang="en-IN" sz="2000" b="0" i="0" u="none" strike="noStrike" cap="none">
                <a:solidFill>
                  <a:schemeClr val="dk1"/>
                </a:solidFill>
                <a:latin typeface="Garamond"/>
                <a:ea typeface="Garamond"/>
                <a:cs typeface="Garamond"/>
                <a:sym typeface="Garamond"/>
              </a:rPr>
              <a:t>Which companies were mentioned in the news article?</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2000"/>
              <a:buFont typeface="Arial"/>
              <a:buChar char="•"/>
            </a:pPr>
            <a:r>
              <a:rPr lang="en-IN" sz="2000" b="0" i="0" u="none" strike="noStrike" cap="none">
                <a:solidFill>
                  <a:schemeClr val="dk1"/>
                </a:solidFill>
                <a:latin typeface="Garamond"/>
                <a:ea typeface="Garamond"/>
                <a:cs typeface="Garamond"/>
                <a:sym typeface="Garamond"/>
              </a:rPr>
              <a:t>Were specified products mentioned in complaints or reviews?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2000"/>
              <a:buFont typeface="Arial"/>
              <a:buChar char="•"/>
            </a:pPr>
            <a:r>
              <a:rPr lang="en-IN" sz="2000" b="0" i="0" u="none" strike="noStrike" cap="none">
                <a:solidFill>
                  <a:schemeClr val="dk1"/>
                </a:solidFill>
                <a:latin typeface="Garamond"/>
                <a:ea typeface="Garamond"/>
                <a:cs typeface="Garamond"/>
                <a:sym typeface="Garamond"/>
              </a:rPr>
              <a:t>Does the tweet contain the name of a person? Does the tweet contain this person’s location?</a:t>
            </a:r>
            <a:endParaRPr sz="1400" b="0" i="0" u="none" strike="noStrike" cap="none">
              <a:solidFill>
                <a:srgbClr val="000000"/>
              </a:solidFill>
              <a:latin typeface="Arial"/>
              <a:ea typeface="Arial"/>
              <a:cs typeface="Arial"/>
              <a:sym typeface="Arial"/>
            </a:endParaRPr>
          </a:p>
        </p:txBody>
      </p:sp>
      <p:sp>
        <p:nvSpPr>
          <p:cNvPr id="111" name="Google Shape;111;p5"/>
          <p:cNvSpPr txBox="1"/>
          <p:nvPr/>
        </p:nvSpPr>
        <p:spPr>
          <a:xfrm>
            <a:off x="0" y="0"/>
            <a:ext cx="8117100" cy="630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IN" sz="3500" b="0" i="0" u="none" strike="noStrike" cap="none">
                <a:solidFill>
                  <a:srgbClr val="FF6700"/>
                </a:solidFill>
                <a:latin typeface="Garamond"/>
                <a:ea typeface="Garamond"/>
                <a:cs typeface="Garamond"/>
                <a:sym typeface="Garamond"/>
              </a:rPr>
              <a:t>What Business Questions can be answered ?</a:t>
            </a:r>
            <a:endParaRPr sz="1400" b="0" i="0" u="none" strike="noStrike" cap="none">
              <a:solidFill>
                <a:srgbClr val="000000"/>
              </a:solidFill>
              <a:latin typeface="Arial"/>
              <a:ea typeface="Arial"/>
              <a:cs typeface="Arial"/>
              <a:sym typeface="Arial"/>
            </a:endParaRPr>
          </a:p>
        </p:txBody>
      </p:sp>
      <p:sp>
        <p:nvSpPr>
          <p:cNvPr id="112" name="Google Shape;112;p5"/>
          <p:cNvSpPr/>
          <p:nvPr/>
        </p:nvSpPr>
        <p:spPr>
          <a:xfrm>
            <a:off x="2582550" y="4156813"/>
            <a:ext cx="2971800" cy="12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IN" sz="2500" b="0" i="0" u="none" strike="noStrike" cap="none">
                <a:solidFill>
                  <a:schemeClr val="accent2"/>
                </a:solidFill>
                <a:latin typeface="Garamond"/>
                <a:ea typeface="Garamond"/>
                <a:cs typeface="Garamond"/>
                <a:sym typeface="Garamond"/>
              </a:rPr>
              <a:t>Try it out: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00"/>
              <a:buFont typeface="Arial"/>
              <a:buNone/>
            </a:pPr>
            <a:r>
              <a:rPr lang="en-IN" sz="2500" b="0" i="0" u="sng" strike="noStrike" cap="none">
                <a:solidFill>
                  <a:schemeClr val="dk1"/>
                </a:solidFill>
                <a:latin typeface="Garamond"/>
                <a:ea typeface="Garamond"/>
                <a:cs typeface="Garamond"/>
                <a:sym typeface="Garamond"/>
                <a:hlinkClick r:id="rId4">
                  <a:extLst>
                    <a:ext uri="{A12FA001-AC4F-418D-AE19-62706E023703}">
                      <ahyp:hlinkClr xmlns:ahyp="http://schemas.microsoft.com/office/drawing/2018/hyperlinkcolor" val="tx"/>
                    </a:ext>
                  </a:extLst>
                </a:hlinkClick>
              </a:rPr>
              <a:t>https://corenlp.run/</a:t>
            </a:r>
            <a:r>
              <a:rPr lang="en-IN" sz="2500" b="0" i="0" u="none" strike="noStrike" cap="none">
                <a:solidFill>
                  <a:schemeClr val="dk1"/>
                </a:solidFill>
                <a:latin typeface="Garamond"/>
                <a:ea typeface="Garamond"/>
                <a:cs typeface="Garamond"/>
                <a:sym typeface="Garamond"/>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00"/>
              <a:buFont typeface="Arial"/>
              <a:buNone/>
            </a:pPr>
            <a:r>
              <a:rPr lang="en-IN" sz="2500" b="0" i="0" u="sng" strike="noStrike" cap="none">
                <a:solidFill>
                  <a:schemeClr val="dk1"/>
                </a:solidFill>
                <a:latin typeface="Garamond"/>
                <a:ea typeface="Garamond"/>
                <a:cs typeface="Garamond"/>
                <a:sym typeface="Garamond"/>
                <a:hlinkClick r:id="rId5">
                  <a:extLst>
                    <a:ext uri="{A12FA001-AC4F-418D-AE19-62706E023703}">
                      <ahyp:hlinkClr xmlns:ahyp="http://schemas.microsoft.com/office/drawing/2018/hyperlinkcolor" val="tx"/>
                    </a:ext>
                  </a:extLst>
                </a:hlinkClick>
              </a:rPr>
              <a:t>https://spacy.io/ </a:t>
            </a:r>
            <a:endParaRPr sz="2500" b="0" i="0" u="none" strike="noStrike" cap="none">
              <a:solidFill>
                <a:schemeClr val="dk1"/>
              </a:solidFill>
              <a:latin typeface="Garamond"/>
              <a:ea typeface="Garamond"/>
              <a:cs typeface="Garamond"/>
              <a:sym typeface="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grpSp>
        <p:nvGrpSpPr>
          <p:cNvPr id="117" name="Google Shape;117;p6"/>
          <p:cNvGrpSpPr/>
          <p:nvPr/>
        </p:nvGrpSpPr>
        <p:grpSpPr>
          <a:xfrm>
            <a:off x="287180" y="2483675"/>
            <a:ext cx="8224150" cy="747649"/>
            <a:chOff x="4019" y="1583295"/>
            <a:chExt cx="8224150" cy="747649"/>
          </a:xfrm>
        </p:grpSpPr>
        <p:sp>
          <p:nvSpPr>
            <p:cNvPr id="118" name="Google Shape;118;p6"/>
            <p:cNvSpPr/>
            <p:nvPr/>
          </p:nvSpPr>
          <p:spPr>
            <a:xfrm>
              <a:off x="4019" y="1583295"/>
              <a:ext cx="1246083" cy="747649"/>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6"/>
            <p:cNvSpPr txBox="1"/>
            <p:nvPr/>
          </p:nvSpPr>
          <p:spPr>
            <a:xfrm>
              <a:off x="25917" y="1605193"/>
              <a:ext cx="1202287" cy="70385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IN" sz="1400" b="0" i="0" u="none" strike="noStrike" cap="none">
                  <a:solidFill>
                    <a:schemeClr val="lt1"/>
                  </a:solidFill>
                  <a:latin typeface="Calibri"/>
                  <a:ea typeface="Calibri"/>
                  <a:cs typeface="Calibri"/>
                  <a:sym typeface="Calibri"/>
                </a:rPr>
                <a:t>Raw Strings</a:t>
              </a:r>
              <a:endParaRPr sz="1400" b="0" i="0" u="none" strike="noStrike" cap="none">
                <a:solidFill>
                  <a:schemeClr val="lt1"/>
                </a:solidFill>
                <a:latin typeface="Calibri"/>
                <a:ea typeface="Calibri"/>
                <a:cs typeface="Calibri"/>
                <a:sym typeface="Calibri"/>
              </a:endParaRPr>
            </a:p>
          </p:txBody>
        </p:sp>
        <p:sp>
          <p:nvSpPr>
            <p:cNvPr id="120" name="Google Shape;120;p6"/>
            <p:cNvSpPr/>
            <p:nvPr/>
          </p:nvSpPr>
          <p:spPr>
            <a:xfrm>
              <a:off x="1374711" y="1802605"/>
              <a:ext cx="264169" cy="309028"/>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6"/>
            <p:cNvSpPr txBox="1"/>
            <p:nvPr/>
          </p:nvSpPr>
          <p:spPr>
            <a:xfrm>
              <a:off x="1374711" y="1864411"/>
              <a:ext cx="184918" cy="18541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800"/>
                <a:buFont typeface="Calibri"/>
                <a:buNone/>
              </a:pPr>
              <a:endParaRPr sz="800" b="0" i="0" u="none" strike="noStrike" cap="none">
                <a:solidFill>
                  <a:schemeClr val="lt1"/>
                </a:solidFill>
                <a:latin typeface="Calibri"/>
                <a:ea typeface="Calibri"/>
                <a:cs typeface="Calibri"/>
                <a:sym typeface="Calibri"/>
              </a:endParaRPr>
            </a:p>
          </p:txBody>
        </p:sp>
        <p:sp>
          <p:nvSpPr>
            <p:cNvPr id="122" name="Google Shape;122;p6"/>
            <p:cNvSpPr/>
            <p:nvPr/>
          </p:nvSpPr>
          <p:spPr>
            <a:xfrm>
              <a:off x="1748536" y="1583295"/>
              <a:ext cx="1246083" cy="747649"/>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6"/>
            <p:cNvSpPr txBox="1"/>
            <p:nvPr/>
          </p:nvSpPr>
          <p:spPr>
            <a:xfrm>
              <a:off x="1770434" y="1605193"/>
              <a:ext cx="1202287" cy="70385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IN" sz="1400" b="0" i="0" u="none" strike="noStrike" cap="none">
                  <a:solidFill>
                    <a:schemeClr val="lt1"/>
                  </a:solidFill>
                  <a:latin typeface="Calibri"/>
                  <a:ea typeface="Calibri"/>
                  <a:cs typeface="Calibri"/>
                  <a:sym typeface="Calibri"/>
                </a:rPr>
                <a:t>Sentence Segmentation</a:t>
              </a:r>
              <a:endParaRPr sz="1400" b="0" i="0" u="none" strike="noStrike" cap="none">
                <a:solidFill>
                  <a:schemeClr val="lt1"/>
                </a:solidFill>
                <a:latin typeface="Calibri"/>
                <a:ea typeface="Calibri"/>
                <a:cs typeface="Calibri"/>
                <a:sym typeface="Calibri"/>
              </a:endParaRPr>
            </a:p>
          </p:txBody>
        </p:sp>
        <p:sp>
          <p:nvSpPr>
            <p:cNvPr id="124" name="Google Shape;124;p6"/>
            <p:cNvSpPr/>
            <p:nvPr/>
          </p:nvSpPr>
          <p:spPr>
            <a:xfrm>
              <a:off x="3119227" y="1802605"/>
              <a:ext cx="264169" cy="309028"/>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6"/>
            <p:cNvSpPr txBox="1"/>
            <p:nvPr/>
          </p:nvSpPr>
          <p:spPr>
            <a:xfrm>
              <a:off x="3119227" y="1864411"/>
              <a:ext cx="184918" cy="18541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800"/>
                <a:buFont typeface="Calibri"/>
                <a:buNone/>
              </a:pPr>
              <a:endParaRPr sz="800" b="0" i="0" u="none" strike="noStrike" cap="none">
                <a:solidFill>
                  <a:schemeClr val="lt1"/>
                </a:solidFill>
                <a:latin typeface="Calibri"/>
                <a:ea typeface="Calibri"/>
                <a:cs typeface="Calibri"/>
                <a:sym typeface="Calibri"/>
              </a:endParaRPr>
            </a:p>
          </p:txBody>
        </p:sp>
        <p:sp>
          <p:nvSpPr>
            <p:cNvPr id="126" name="Google Shape;126;p6"/>
            <p:cNvSpPr/>
            <p:nvPr/>
          </p:nvSpPr>
          <p:spPr>
            <a:xfrm>
              <a:off x="3493052" y="1583295"/>
              <a:ext cx="1246083" cy="747649"/>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6"/>
            <p:cNvSpPr txBox="1"/>
            <p:nvPr/>
          </p:nvSpPr>
          <p:spPr>
            <a:xfrm>
              <a:off x="3514950" y="1605193"/>
              <a:ext cx="1202287" cy="70385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IN" sz="1400" b="0" i="0" u="none" strike="noStrike" cap="none">
                  <a:solidFill>
                    <a:schemeClr val="lt1"/>
                  </a:solidFill>
                  <a:latin typeface="Calibri"/>
                  <a:ea typeface="Calibri"/>
                  <a:cs typeface="Calibri"/>
                  <a:sym typeface="Calibri"/>
                </a:rPr>
                <a:t>Token</a:t>
              </a:r>
              <a:endParaRPr sz="1400" b="0" i="0" u="none" strike="noStrike" cap="none">
                <a:solidFill>
                  <a:schemeClr val="lt1"/>
                </a:solidFill>
                <a:latin typeface="Calibri"/>
                <a:ea typeface="Calibri"/>
                <a:cs typeface="Calibri"/>
                <a:sym typeface="Calibri"/>
              </a:endParaRPr>
            </a:p>
          </p:txBody>
        </p:sp>
        <p:sp>
          <p:nvSpPr>
            <p:cNvPr id="128" name="Google Shape;128;p6"/>
            <p:cNvSpPr/>
            <p:nvPr/>
          </p:nvSpPr>
          <p:spPr>
            <a:xfrm>
              <a:off x="4863744" y="1802605"/>
              <a:ext cx="264169" cy="309028"/>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6"/>
            <p:cNvSpPr txBox="1"/>
            <p:nvPr/>
          </p:nvSpPr>
          <p:spPr>
            <a:xfrm>
              <a:off x="4863744" y="1864411"/>
              <a:ext cx="184918" cy="18541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800"/>
                <a:buFont typeface="Calibri"/>
                <a:buNone/>
              </a:pPr>
              <a:endParaRPr sz="800" b="0" i="0" u="none" strike="noStrike" cap="none">
                <a:solidFill>
                  <a:schemeClr val="lt1"/>
                </a:solidFill>
                <a:latin typeface="Calibri"/>
                <a:ea typeface="Calibri"/>
                <a:cs typeface="Calibri"/>
                <a:sym typeface="Calibri"/>
              </a:endParaRPr>
            </a:p>
          </p:txBody>
        </p:sp>
        <p:sp>
          <p:nvSpPr>
            <p:cNvPr id="130" name="Google Shape;130;p6"/>
            <p:cNvSpPr/>
            <p:nvPr/>
          </p:nvSpPr>
          <p:spPr>
            <a:xfrm>
              <a:off x="5237569" y="1583295"/>
              <a:ext cx="1246083" cy="747649"/>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6"/>
            <p:cNvSpPr txBox="1"/>
            <p:nvPr/>
          </p:nvSpPr>
          <p:spPr>
            <a:xfrm>
              <a:off x="5259467" y="1605193"/>
              <a:ext cx="1202287" cy="70385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IN" sz="1400" b="0" i="0" u="none" strike="noStrike" cap="none">
                  <a:solidFill>
                    <a:schemeClr val="lt1"/>
                  </a:solidFill>
                  <a:latin typeface="Calibri"/>
                  <a:ea typeface="Calibri"/>
                  <a:cs typeface="Calibri"/>
                  <a:sym typeface="Calibri"/>
                </a:rPr>
                <a:t>POS Tagging</a:t>
              </a:r>
              <a:endParaRPr sz="1400" b="0" i="0" u="none" strike="noStrike" cap="none">
                <a:solidFill>
                  <a:schemeClr val="lt1"/>
                </a:solidFill>
                <a:latin typeface="Calibri"/>
                <a:ea typeface="Calibri"/>
                <a:cs typeface="Calibri"/>
                <a:sym typeface="Calibri"/>
              </a:endParaRPr>
            </a:p>
          </p:txBody>
        </p:sp>
        <p:sp>
          <p:nvSpPr>
            <p:cNvPr id="132" name="Google Shape;132;p6"/>
            <p:cNvSpPr/>
            <p:nvPr/>
          </p:nvSpPr>
          <p:spPr>
            <a:xfrm>
              <a:off x="6608261" y="1802605"/>
              <a:ext cx="264169" cy="309028"/>
            </a:xfrm>
            <a:prstGeom prst="rightArrow">
              <a:avLst>
                <a:gd name="adj1" fmla="val 60000"/>
                <a:gd name="adj2" fmla="val 50000"/>
              </a:avLst>
            </a:prstGeom>
            <a:solidFill>
              <a:srgbClr val="B1C0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6"/>
            <p:cNvSpPr txBox="1"/>
            <p:nvPr/>
          </p:nvSpPr>
          <p:spPr>
            <a:xfrm>
              <a:off x="6608261" y="1864411"/>
              <a:ext cx="184918" cy="185416"/>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800"/>
                <a:buFont typeface="Calibri"/>
                <a:buNone/>
              </a:pPr>
              <a:endParaRPr sz="800" b="0" i="0" u="none" strike="noStrike" cap="none">
                <a:solidFill>
                  <a:schemeClr val="lt1"/>
                </a:solidFill>
                <a:latin typeface="Calibri"/>
                <a:ea typeface="Calibri"/>
                <a:cs typeface="Calibri"/>
                <a:sym typeface="Calibri"/>
              </a:endParaRPr>
            </a:p>
          </p:txBody>
        </p:sp>
        <p:sp>
          <p:nvSpPr>
            <p:cNvPr id="134" name="Google Shape;134;p6"/>
            <p:cNvSpPr/>
            <p:nvPr/>
          </p:nvSpPr>
          <p:spPr>
            <a:xfrm>
              <a:off x="6982086" y="1583295"/>
              <a:ext cx="1246083" cy="747649"/>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6"/>
            <p:cNvSpPr txBox="1"/>
            <p:nvPr/>
          </p:nvSpPr>
          <p:spPr>
            <a:xfrm>
              <a:off x="7003984" y="1605193"/>
              <a:ext cx="1202287" cy="703853"/>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IN" sz="1400" b="0" i="0" u="none" strike="noStrike" cap="none">
                  <a:solidFill>
                    <a:schemeClr val="lt1"/>
                  </a:solidFill>
                  <a:latin typeface="Calibri"/>
                  <a:ea typeface="Calibri"/>
                  <a:cs typeface="Calibri"/>
                  <a:sym typeface="Calibri"/>
                </a:rPr>
                <a:t>Entity Detection</a:t>
              </a:r>
              <a:endParaRPr sz="1400" b="0" i="0" u="none" strike="noStrike" cap="none">
                <a:solidFill>
                  <a:schemeClr val="lt1"/>
                </a:solidFill>
                <a:latin typeface="Calibri"/>
                <a:ea typeface="Calibri"/>
                <a:cs typeface="Calibri"/>
                <a:sym typeface="Calibri"/>
              </a:endParaRPr>
            </a:p>
          </p:txBody>
        </p:sp>
      </p:grpSp>
      <p:sp>
        <p:nvSpPr>
          <p:cNvPr id="136" name="Google Shape;136;p6"/>
          <p:cNvSpPr/>
          <p:nvPr/>
        </p:nvSpPr>
        <p:spPr>
          <a:xfrm>
            <a:off x="41425" y="103525"/>
            <a:ext cx="6895200" cy="1470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IN" sz="3500" b="0" i="0" u="none" strike="noStrike" cap="none">
                <a:solidFill>
                  <a:srgbClr val="FF6700"/>
                </a:solidFill>
                <a:latin typeface="Garamond"/>
                <a:ea typeface="Garamond"/>
                <a:cs typeface="Garamond"/>
                <a:sym typeface="Garamond"/>
              </a:rPr>
              <a:t>Process flow for NER</a:t>
            </a:r>
            <a:endParaRPr sz="3500" b="0" i="0" u="none" strike="noStrike" cap="none">
              <a:solidFill>
                <a:srgbClr val="FF6700"/>
              </a:solidFill>
              <a:latin typeface="Garamond"/>
              <a:ea typeface="Garamond"/>
              <a:cs typeface="Garamond"/>
              <a:sym typeface="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7"/>
          <p:cNvSpPr txBox="1">
            <a:spLocks noGrp="1"/>
          </p:cNvSpPr>
          <p:nvPr>
            <p:ph type="body" idx="1"/>
          </p:nvPr>
        </p:nvSpPr>
        <p:spPr>
          <a:xfrm>
            <a:off x="152400" y="1181100"/>
            <a:ext cx="8458200" cy="3263504"/>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220"/>
              <a:buChar char="•"/>
            </a:pPr>
            <a:r>
              <a:rPr lang="en-IN" sz="2220">
                <a:latin typeface="Garamond"/>
                <a:ea typeface="Garamond"/>
                <a:cs typeface="Garamond"/>
                <a:sym typeface="Garamond"/>
              </a:rPr>
              <a:t>Texts found in online contains unwanted material(such as headers ,footers) that need to be removed before applying linguistic processing</a:t>
            </a:r>
            <a:endParaRPr/>
          </a:p>
          <a:p>
            <a:pPr marL="342900" lvl="0" indent="-342900" algn="l" rtl="0">
              <a:lnSpc>
                <a:spcPct val="100000"/>
              </a:lnSpc>
              <a:spcBef>
                <a:spcPts val="444"/>
              </a:spcBef>
              <a:spcAft>
                <a:spcPts val="0"/>
              </a:spcAft>
              <a:buClr>
                <a:schemeClr val="dk1"/>
              </a:buClr>
              <a:buSzPts val="2220"/>
              <a:buChar char="•"/>
            </a:pPr>
            <a:r>
              <a:rPr lang="en-IN" sz="2220">
                <a:latin typeface="Garamond"/>
                <a:ea typeface="Garamond"/>
                <a:cs typeface="Garamond"/>
                <a:sym typeface="Garamond"/>
              </a:rPr>
              <a:t>Tokenization is the segmentation of texts into basic units – or tokens – such as words and punctuations </a:t>
            </a:r>
            <a:endParaRPr/>
          </a:p>
          <a:p>
            <a:pPr marL="342900" lvl="0" indent="-342900" algn="l" rtl="0">
              <a:lnSpc>
                <a:spcPct val="100000"/>
              </a:lnSpc>
              <a:spcBef>
                <a:spcPts val="444"/>
              </a:spcBef>
              <a:spcAft>
                <a:spcPts val="0"/>
              </a:spcAft>
              <a:buClr>
                <a:schemeClr val="dk1"/>
              </a:buClr>
              <a:buSzPts val="2220"/>
              <a:buChar char="•"/>
            </a:pPr>
            <a:r>
              <a:rPr lang="en-IN" sz="2220">
                <a:latin typeface="Garamond"/>
                <a:ea typeface="Garamond"/>
                <a:cs typeface="Garamond"/>
                <a:sym typeface="Garamond"/>
              </a:rPr>
              <a:t>Lemmatization is a process of mapping a word to its canonical form </a:t>
            </a:r>
            <a:endParaRPr/>
          </a:p>
          <a:p>
            <a:pPr marL="342900" lvl="0" indent="-342900" algn="l" rtl="0">
              <a:lnSpc>
                <a:spcPct val="100000"/>
              </a:lnSpc>
              <a:spcBef>
                <a:spcPts val="444"/>
              </a:spcBef>
              <a:spcAft>
                <a:spcPts val="0"/>
              </a:spcAft>
              <a:buClr>
                <a:schemeClr val="dk1"/>
              </a:buClr>
              <a:buSzPts val="2220"/>
              <a:buChar char="•"/>
            </a:pPr>
            <a:r>
              <a:rPr lang="en-IN" sz="2220">
                <a:latin typeface="Garamond"/>
                <a:ea typeface="Garamond"/>
                <a:cs typeface="Garamond"/>
                <a:sym typeface="Garamond"/>
              </a:rPr>
              <a:t>Regular Expressions are a powerful and flexible method of specifying the patterns </a:t>
            </a:r>
            <a:endParaRPr sz="2220">
              <a:latin typeface="Garamond"/>
              <a:ea typeface="Garamond"/>
              <a:cs typeface="Garamond"/>
              <a:sym typeface="Garamond"/>
            </a:endParaRPr>
          </a:p>
        </p:txBody>
      </p:sp>
      <p:sp>
        <p:nvSpPr>
          <p:cNvPr id="142" name="Google Shape;142;p7"/>
          <p:cNvSpPr/>
          <p:nvPr/>
        </p:nvSpPr>
        <p:spPr>
          <a:xfrm>
            <a:off x="0" y="0"/>
            <a:ext cx="6232800" cy="724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IN" sz="3500" b="0" i="0" u="none" strike="noStrike" cap="none">
                <a:solidFill>
                  <a:srgbClr val="FF6700"/>
                </a:solidFill>
                <a:latin typeface="Garamond"/>
                <a:ea typeface="Garamond"/>
                <a:cs typeface="Garamond"/>
                <a:sym typeface="Garamond"/>
              </a:rPr>
              <a:t>Data Pre-processing</a:t>
            </a:r>
            <a:endParaRPr sz="3500" b="0" i="0" u="none" strike="noStrike" cap="none">
              <a:solidFill>
                <a:srgbClr val="FF6700"/>
              </a:solidFill>
              <a:latin typeface="Garamond"/>
              <a:ea typeface="Garamond"/>
              <a:cs typeface="Garamond"/>
              <a:sym typeface="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p:nvPr/>
        </p:nvSpPr>
        <p:spPr>
          <a:xfrm>
            <a:off x="0" y="1841837"/>
            <a:ext cx="8915400"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IN" sz="2400" b="0" i="0" u="none" strike="noStrike" cap="none">
                <a:solidFill>
                  <a:srgbClr val="292929"/>
                </a:solidFill>
                <a:latin typeface="Garamond"/>
                <a:ea typeface="Garamond"/>
                <a:cs typeface="Garamond"/>
                <a:sym typeface="Garamond"/>
              </a:rPr>
              <a:t>Step one involves detecting a word or string of words that form an entity.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292929"/>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400"/>
              <a:buFont typeface="Arial"/>
              <a:buNone/>
            </a:pPr>
            <a:r>
              <a:rPr lang="en-IN" sz="2400" b="0" i="0" u="none" strike="noStrike" cap="none">
                <a:solidFill>
                  <a:srgbClr val="292929"/>
                </a:solidFill>
                <a:latin typeface="Garamond"/>
                <a:ea typeface="Garamond"/>
                <a:cs typeface="Garamond"/>
                <a:sym typeface="Garamond"/>
              </a:rPr>
              <a:t>Each word represents a token: “The Empty Roads” is a string of three tokens that represents one entity. </a:t>
            </a:r>
            <a:endParaRPr sz="2400" b="0" i="0" u="none" strike="noStrike" cap="none">
              <a:solidFill>
                <a:schemeClr val="dk1"/>
              </a:solidFill>
              <a:latin typeface="Garamond"/>
              <a:ea typeface="Garamond"/>
              <a:cs typeface="Garamond"/>
              <a:sym typeface="Garamond"/>
            </a:endParaRPr>
          </a:p>
        </p:txBody>
      </p:sp>
      <p:sp>
        <p:nvSpPr>
          <p:cNvPr id="148" name="Google Shape;148;p8"/>
          <p:cNvSpPr txBox="1"/>
          <p:nvPr/>
        </p:nvSpPr>
        <p:spPr>
          <a:xfrm>
            <a:off x="0" y="0"/>
            <a:ext cx="1965960" cy="63094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IN" sz="3500" b="0" i="0" u="none" strike="noStrike" cap="none" dirty="0">
                <a:solidFill>
                  <a:srgbClr val="FF6700"/>
                </a:solidFill>
                <a:latin typeface="Garamond"/>
                <a:ea typeface="Garamond"/>
                <a:cs typeface="Garamond"/>
                <a:sym typeface="Garamond"/>
              </a:rPr>
              <a:t>Token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9"/>
          <p:cNvSpPr txBox="1"/>
          <p:nvPr/>
        </p:nvSpPr>
        <p:spPr>
          <a:xfrm>
            <a:off x="76200" y="114300"/>
            <a:ext cx="8763000" cy="5509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chemeClr val="dk1"/>
                </a:solidFill>
                <a:latin typeface="Garamond"/>
                <a:ea typeface="Garamond"/>
                <a:cs typeface="Garamond"/>
                <a:sym typeface="Garamond"/>
              </a:rPr>
              <a:t>The second step requires the creation of entity categories based on Parts of Speech(PoS).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chemeClr val="dk1"/>
                </a:solidFill>
                <a:latin typeface="Garamond"/>
                <a:ea typeface="Garamond"/>
                <a:cs typeface="Garamond"/>
                <a:sym typeface="Garamond"/>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chemeClr val="dk1"/>
                </a:solidFill>
                <a:latin typeface="Garamond"/>
                <a:ea typeface="Garamond"/>
                <a:cs typeface="Garamond"/>
                <a:sym typeface="Garamond"/>
              </a:rPr>
              <a:t>Here are some common entity categories: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Garamond"/>
                <a:ea typeface="Garamond"/>
                <a:cs typeface="Garamond"/>
                <a:sym typeface="Garamond"/>
              </a:rPr>
              <a:t>Person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E.g., Elvis Presley, Audrey Hepburn, David Beckham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Garamond"/>
                <a:ea typeface="Garamond"/>
                <a:cs typeface="Garamond"/>
                <a:sym typeface="Garamond"/>
              </a:rPr>
              <a:t>Organization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E.g., Google, Mastercard, University of Oxford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Garamond"/>
                <a:ea typeface="Garamond"/>
                <a:cs typeface="Garamond"/>
                <a:sym typeface="Garamond"/>
              </a:rPr>
              <a:t>Time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E.g., 2006, 16:34, 2am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Garamond"/>
                <a:ea typeface="Garamond"/>
                <a:cs typeface="Garamond"/>
                <a:sym typeface="Garamond"/>
              </a:rPr>
              <a:t>Location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E.g., Trafalgar Square, MoMA, Machu Picchu</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Garamond"/>
                <a:ea typeface="Garamond"/>
                <a:cs typeface="Garamond"/>
                <a:sym typeface="Garamond"/>
              </a:rPr>
              <a:t>Work of art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E.g., Hamlet, Guernica, Exile on Main St.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Garamond"/>
              <a:ea typeface="Garamond"/>
              <a:cs typeface="Garamond"/>
              <a:sym typeface="Garamon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body" idx="1"/>
          </p:nvPr>
        </p:nvSpPr>
        <p:spPr>
          <a:xfrm>
            <a:off x="152400" y="952500"/>
            <a:ext cx="7886700" cy="685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1875"/>
              <a:buNone/>
            </a:pPr>
            <a:r>
              <a:rPr lang="en-IN" sz="1875">
                <a:latin typeface="Garamond"/>
                <a:ea typeface="Garamond"/>
                <a:cs typeface="Garamond"/>
                <a:sym typeface="Garamond"/>
              </a:rPr>
              <a:t>It is the process of marking each word in the sentence to its corresponding parts of speech tag based on its context and definition</a:t>
            </a:r>
            <a:endParaRPr sz="1875">
              <a:latin typeface="Garamond"/>
              <a:ea typeface="Garamond"/>
              <a:cs typeface="Garamond"/>
              <a:sym typeface="Garamond"/>
            </a:endParaRPr>
          </a:p>
        </p:txBody>
      </p:sp>
      <p:graphicFrame>
        <p:nvGraphicFramePr>
          <p:cNvPr id="159" name="Google Shape;159;p10"/>
          <p:cNvGraphicFramePr/>
          <p:nvPr/>
        </p:nvGraphicFramePr>
        <p:xfrm>
          <a:off x="1143000" y="1943100"/>
          <a:ext cx="6096000" cy="2987200"/>
        </p:xfrm>
        <a:graphic>
          <a:graphicData uri="http://schemas.openxmlformats.org/drawingml/2006/table">
            <a:tbl>
              <a:tblPr firstRow="1" bandRow="1">
                <a:noFill/>
                <a:tableStyleId>{1E54FDB1-58D2-47DA-A01A-7F442D329337}</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278125">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POS Tag</a:t>
                      </a:r>
                      <a:endParaRPr sz="2000" u="none" strike="noStrike" cap="none">
                        <a:latin typeface="Garamond"/>
                        <a:ea typeface="Garamond"/>
                        <a:cs typeface="Garamond"/>
                        <a:sym typeface="Garamond"/>
                      </a:endParaRPr>
                    </a:p>
                  </a:txBody>
                  <a:tcPr marL="68575" marR="68575" marT="34300" marB="34300"/>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Example</a:t>
                      </a:r>
                      <a:endParaRPr sz="2000" u="none" strike="noStrike" cap="none">
                        <a:latin typeface="Garamond"/>
                        <a:ea typeface="Garamond"/>
                        <a:cs typeface="Garamond"/>
                        <a:sym typeface="Garamond"/>
                      </a:endParaRPr>
                    </a:p>
                  </a:txBody>
                  <a:tcPr marL="68575" marR="68575" marT="34300" marB="34300"/>
                </a:tc>
                <a:extLst>
                  <a:ext uri="{0D108BD9-81ED-4DB2-BD59-A6C34878D82A}">
                    <a16:rowId xmlns:a16="http://schemas.microsoft.com/office/drawing/2014/main" val="10000"/>
                  </a:ext>
                </a:extLst>
              </a:tr>
              <a:tr h="278125">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PRP ( Personal Pronoun)</a:t>
                      </a:r>
                      <a:endParaRPr sz="2000" u="none" strike="noStrike" cap="none">
                        <a:latin typeface="Garamond"/>
                        <a:ea typeface="Garamond"/>
                        <a:cs typeface="Garamond"/>
                        <a:sym typeface="Garamond"/>
                      </a:endParaRPr>
                    </a:p>
                  </a:txBody>
                  <a:tcPr marL="68575" marR="68575" marT="34300" marB="34300"/>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He ,She</a:t>
                      </a:r>
                      <a:endParaRPr sz="2000" u="none" strike="noStrike" cap="none">
                        <a:latin typeface="Garamond"/>
                        <a:ea typeface="Garamond"/>
                        <a:cs typeface="Garamond"/>
                        <a:sym typeface="Garamond"/>
                      </a:endParaRPr>
                    </a:p>
                  </a:txBody>
                  <a:tcPr marL="68575" marR="68575" marT="34300" marB="34300"/>
                </a:tc>
                <a:extLst>
                  <a:ext uri="{0D108BD9-81ED-4DB2-BD59-A6C34878D82A}">
                    <a16:rowId xmlns:a16="http://schemas.microsoft.com/office/drawing/2014/main" val="10001"/>
                  </a:ext>
                </a:extLst>
              </a:tr>
              <a:tr h="278125">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PRP (Possessive Pronoun)</a:t>
                      </a:r>
                      <a:endParaRPr sz="2000" u="none" strike="noStrike" cap="none">
                        <a:latin typeface="Garamond"/>
                        <a:ea typeface="Garamond"/>
                        <a:cs typeface="Garamond"/>
                        <a:sym typeface="Garamond"/>
                      </a:endParaRPr>
                    </a:p>
                  </a:txBody>
                  <a:tcPr marL="68575" marR="68575" marT="34300" marB="34300"/>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My,his,hers</a:t>
                      </a:r>
                      <a:endParaRPr sz="2000" u="none" strike="noStrike" cap="none">
                        <a:latin typeface="Garamond"/>
                        <a:ea typeface="Garamond"/>
                        <a:cs typeface="Garamond"/>
                        <a:sym typeface="Garamond"/>
                      </a:endParaRPr>
                    </a:p>
                  </a:txBody>
                  <a:tcPr marL="68575" marR="68575" marT="34300" marB="34300"/>
                </a:tc>
                <a:extLst>
                  <a:ext uri="{0D108BD9-81ED-4DB2-BD59-A6C34878D82A}">
                    <a16:rowId xmlns:a16="http://schemas.microsoft.com/office/drawing/2014/main" val="10002"/>
                  </a:ext>
                </a:extLst>
              </a:tr>
              <a:tr h="278125">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RB (Adverb)</a:t>
                      </a:r>
                      <a:endParaRPr sz="2000" u="none" strike="noStrike" cap="none">
                        <a:latin typeface="Garamond"/>
                        <a:ea typeface="Garamond"/>
                        <a:cs typeface="Garamond"/>
                        <a:sym typeface="Garamond"/>
                      </a:endParaRPr>
                    </a:p>
                  </a:txBody>
                  <a:tcPr marL="68575" marR="68575" marT="34300" marB="34300"/>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Very, Silently</a:t>
                      </a:r>
                      <a:endParaRPr sz="2000" u="none" strike="noStrike" cap="none">
                        <a:latin typeface="Garamond"/>
                        <a:ea typeface="Garamond"/>
                        <a:cs typeface="Garamond"/>
                        <a:sym typeface="Garamond"/>
                      </a:endParaRPr>
                    </a:p>
                  </a:txBody>
                  <a:tcPr marL="68575" marR="68575" marT="34300" marB="34300"/>
                </a:tc>
                <a:extLst>
                  <a:ext uri="{0D108BD9-81ED-4DB2-BD59-A6C34878D82A}">
                    <a16:rowId xmlns:a16="http://schemas.microsoft.com/office/drawing/2014/main" val="10003"/>
                  </a:ext>
                </a:extLst>
              </a:tr>
              <a:tr h="278125">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VB ( Verb)</a:t>
                      </a:r>
                      <a:endParaRPr sz="2000" u="none" strike="noStrike" cap="none">
                        <a:latin typeface="Garamond"/>
                        <a:ea typeface="Garamond"/>
                        <a:cs typeface="Garamond"/>
                        <a:sym typeface="Garamond"/>
                      </a:endParaRPr>
                    </a:p>
                  </a:txBody>
                  <a:tcPr marL="68575" marR="68575" marT="34300" marB="34300"/>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Take</a:t>
                      </a:r>
                      <a:endParaRPr sz="2000" u="none" strike="noStrike" cap="none">
                        <a:latin typeface="Garamond"/>
                        <a:ea typeface="Garamond"/>
                        <a:cs typeface="Garamond"/>
                        <a:sym typeface="Garamond"/>
                      </a:endParaRPr>
                    </a:p>
                  </a:txBody>
                  <a:tcPr marL="68575" marR="68575" marT="34300" marB="34300"/>
                </a:tc>
                <a:extLst>
                  <a:ext uri="{0D108BD9-81ED-4DB2-BD59-A6C34878D82A}">
                    <a16:rowId xmlns:a16="http://schemas.microsoft.com/office/drawing/2014/main" val="10004"/>
                  </a:ext>
                </a:extLst>
              </a:tr>
              <a:tr h="278125">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FW</a:t>
                      </a:r>
                      <a:endParaRPr sz="2000" u="none" strike="noStrike" cap="none">
                        <a:latin typeface="Garamond"/>
                        <a:ea typeface="Garamond"/>
                        <a:cs typeface="Garamond"/>
                        <a:sym typeface="Garamond"/>
                      </a:endParaRPr>
                    </a:p>
                  </a:txBody>
                  <a:tcPr marL="68575" marR="68575" marT="34300" marB="34300"/>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Foreign Word</a:t>
                      </a:r>
                      <a:endParaRPr sz="2000" u="none" strike="noStrike" cap="none">
                        <a:latin typeface="Garamond"/>
                        <a:ea typeface="Garamond"/>
                        <a:cs typeface="Garamond"/>
                        <a:sym typeface="Garamond"/>
                      </a:endParaRPr>
                    </a:p>
                  </a:txBody>
                  <a:tcPr marL="68575" marR="68575" marT="34300" marB="34300"/>
                </a:tc>
                <a:extLst>
                  <a:ext uri="{0D108BD9-81ED-4DB2-BD59-A6C34878D82A}">
                    <a16:rowId xmlns:a16="http://schemas.microsoft.com/office/drawing/2014/main" val="10005"/>
                  </a:ext>
                </a:extLst>
              </a:tr>
              <a:tr h="278125">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JJ ( Adjective)</a:t>
                      </a:r>
                      <a:endParaRPr sz="2000" u="none" strike="noStrike" cap="none">
                        <a:latin typeface="Garamond"/>
                        <a:ea typeface="Garamond"/>
                        <a:cs typeface="Garamond"/>
                        <a:sym typeface="Garamond"/>
                      </a:endParaRPr>
                    </a:p>
                  </a:txBody>
                  <a:tcPr marL="68575" marR="68575" marT="34300" marB="34300"/>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Small</a:t>
                      </a:r>
                      <a:endParaRPr sz="2000" u="none" strike="noStrike" cap="none">
                        <a:latin typeface="Garamond"/>
                        <a:ea typeface="Garamond"/>
                        <a:cs typeface="Garamond"/>
                        <a:sym typeface="Garamond"/>
                      </a:endParaRPr>
                    </a:p>
                  </a:txBody>
                  <a:tcPr marL="68575" marR="68575" marT="34300" marB="34300"/>
                </a:tc>
                <a:extLst>
                  <a:ext uri="{0D108BD9-81ED-4DB2-BD59-A6C34878D82A}">
                    <a16:rowId xmlns:a16="http://schemas.microsoft.com/office/drawing/2014/main" val="10006"/>
                  </a:ext>
                </a:extLst>
              </a:tr>
              <a:tr h="278125">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NN( Noun)</a:t>
                      </a:r>
                      <a:endParaRPr sz="2000" u="none" strike="noStrike" cap="none">
                        <a:latin typeface="Garamond"/>
                        <a:ea typeface="Garamond"/>
                        <a:cs typeface="Garamond"/>
                        <a:sym typeface="Garamond"/>
                      </a:endParaRPr>
                    </a:p>
                  </a:txBody>
                  <a:tcPr marL="68575" marR="68575" marT="34300" marB="34300"/>
                </a:tc>
                <a:tc>
                  <a:txBody>
                    <a:bodyPr/>
                    <a:lstStyle/>
                    <a:p>
                      <a:pPr marL="0" marR="0" lvl="0" indent="0" algn="l" rtl="0">
                        <a:lnSpc>
                          <a:spcPct val="100000"/>
                        </a:lnSpc>
                        <a:spcBef>
                          <a:spcPts val="0"/>
                        </a:spcBef>
                        <a:spcAft>
                          <a:spcPts val="0"/>
                        </a:spcAft>
                        <a:buClr>
                          <a:srgbClr val="000000"/>
                        </a:buClr>
                        <a:buSzPts val="2000"/>
                        <a:buFont typeface="Arial"/>
                        <a:buNone/>
                      </a:pPr>
                      <a:r>
                        <a:rPr lang="en-IN" sz="2000" u="none" strike="noStrike" cap="none">
                          <a:latin typeface="Garamond"/>
                          <a:ea typeface="Garamond"/>
                          <a:cs typeface="Garamond"/>
                          <a:sym typeface="Garamond"/>
                        </a:rPr>
                        <a:t>desk</a:t>
                      </a:r>
                      <a:endParaRPr sz="2000" u="none" strike="noStrike" cap="none">
                        <a:latin typeface="Garamond"/>
                        <a:ea typeface="Garamond"/>
                        <a:cs typeface="Garamond"/>
                        <a:sym typeface="Garamond"/>
                      </a:endParaRPr>
                    </a:p>
                  </a:txBody>
                  <a:tcPr marL="68575" marR="68575" marT="34300" marB="34300"/>
                </a:tc>
                <a:extLst>
                  <a:ext uri="{0D108BD9-81ED-4DB2-BD59-A6C34878D82A}">
                    <a16:rowId xmlns:a16="http://schemas.microsoft.com/office/drawing/2014/main" val="10007"/>
                  </a:ext>
                </a:extLst>
              </a:tr>
            </a:tbl>
          </a:graphicData>
        </a:graphic>
      </p:graphicFrame>
      <p:sp>
        <p:nvSpPr>
          <p:cNvPr id="160" name="Google Shape;160;p10"/>
          <p:cNvSpPr/>
          <p:nvPr/>
        </p:nvSpPr>
        <p:spPr>
          <a:xfrm>
            <a:off x="0" y="0"/>
            <a:ext cx="4793700" cy="73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IN" sz="3500" b="0" i="0" u="none" strike="noStrike" cap="none">
                <a:solidFill>
                  <a:srgbClr val="FF6700"/>
                </a:solidFill>
                <a:latin typeface="Garamond"/>
                <a:ea typeface="Garamond"/>
                <a:cs typeface="Garamond"/>
                <a:sym typeface="Garamond"/>
              </a:rPr>
              <a:t>POS Tagging	</a:t>
            </a:r>
            <a:endParaRPr sz="3500" b="0" i="0" u="none" strike="noStrike" cap="none">
              <a:solidFill>
                <a:srgbClr val="FF6700"/>
              </a:solidFill>
              <a:latin typeface="Garamond"/>
              <a:ea typeface="Garamond"/>
              <a:cs typeface="Garamond"/>
              <a:sym typeface="Garamo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txBox="1"/>
          <p:nvPr/>
        </p:nvSpPr>
        <p:spPr>
          <a:xfrm>
            <a:off x="152400" y="1104900"/>
            <a:ext cx="8763000"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SpaCy is an open-source library for advanced Natural Language Processing in Python.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It is designed specifically for production use and helps build applications that process and “understand” large volumes  of text.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Garamond"/>
                <a:ea typeface="Garamond"/>
                <a:cs typeface="Garamond"/>
                <a:sym typeface="Garamond"/>
              </a:rPr>
              <a:t>It can be used to build information extraction or natural language understanding systems, or to pre-process text for deep learning. Some of the features provided by spaCy are- Tokenization, Parts-of-Speech (PoS) Tagging, Text Classification and Named Entity Recognition.</a:t>
            </a:r>
            <a:endParaRPr sz="1800" b="0" i="0" u="none" strike="noStrike" cap="none">
              <a:solidFill>
                <a:schemeClr val="dk1"/>
              </a:solidFill>
              <a:latin typeface="Garamond"/>
              <a:ea typeface="Garamond"/>
              <a:cs typeface="Garamond"/>
              <a:sym typeface="Garamond"/>
            </a:endParaRPr>
          </a:p>
        </p:txBody>
      </p:sp>
      <p:sp>
        <p:nvSpPr>
          <p:cNvPr id="166" name="Google Shape;166;p11"/>
          <p:cNvSpPr/>
          <p:nvPr/>
        </p:nvSpPr>
        <p:spPr>
          <a:xfrm>
            <a:off x="0" y="0"/>
            <a:ext cx="5922000" cy="1397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IN" sz="3500" b="0" i="0" u="none" strike="noStrike" cap="none">
                <a:solidFill>
                  <a:srgbClr val="FF6700"/>
                </a:solidFill>
                <a:latin typeface="Garamond"/>
                <a:ea typeface="Garamond"/>
                <a:cs typeface="Garamond"/>
                <a:sym typeface="Garamond"/>
              </a:rPr>
              <a:t>Spacy for NER</a:t>
            </a:r>
            <a:endParaRPr sz="3500" b="0" i="0" u="none" strike="noStrike" cap="none">
              <a:solidFill>
                <a:srgbClr val="FF6700"/>
              </a:solidFill>
              <a:latin typeface="Garamond"/>
              <a:ea typeface="Garamond"/>
              <a:cs typeface="Garamond"/>
              <a:sym typeface="Garamon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12" descr="Image for post"/>
          <p:cNvPicPr preferRelativeResize="0"/>
          <p:nvPr/>
        </p:nvPicPr>
        <p:blipFill rotWithShape="1">
          <a:blip r:embed="rId3">
            <a:alphaModFix/>
          </a:blip>
          <a:srcRect/>
          <a:stretch/>
        </p:blipFill>
        <p:spPr>
          <a:xfrm>
            <a:off x="280525" y="630950"/>
            <a:ext cx="8509400" cy="4798299"/>
          </a:xfrm>
          <a:prstGeom prst="rect">
            <a:avLst/>
          </a:prstGeom>
          <a:noFill/>
          <a:ln>
            <a:noFill/>
          </a:ln>
        </p:spPr>
      </p:pic>
      <p:sp>
        <p:nvSpPr>
          <p:cNvPr id="172" name="Google Shape;172;p12"/>
          <p:cNvSpPr/>
          <p:nvPr/>
        </p:nvSpPr>
        <p:spPr>
          <a:xfrm>
            <a:off x="0" y="0"/>
            <a:ext cx="2855269" cy="63094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IN" sz="3500" b="0" i="0" u="none" strike="noStrike" cap="none">
                <a:solidFill>
                  <a:srgbClr val="FF6700"/>
                </a:solidFill>
                <a:latin typeface="Garamond"/>
                <a:ea typeface="Garamond"/>
                <a:cs typeface="Garamond"/>
                <a:sym typeface="Garamond"/>
              </a:rPr>
              <a:t>Spacy for NER</a:t>
            </a:r>
            <a:endParaRPr sz="3500" b="0" i="0" u="none" strike="noStrike" cap="none">
              <a:solidFill>
                <a:srgbClr val="FF6700"/>
              </a:solidFill>
              <a:latin typeface="Garamond"/>
              <a:ea typeface="Garamond"/>
              <a:cs typeface="Garamond"/>
              <a:sym typeface="Garamo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3"/>
          <p:cNvSpPr/>
          <p:nvPr/>
        </p:nvSpPr>
        <p:spPr>
          <a:xfrm>
            <a:off x="82300" y="980040"/>
            <a:ext cx="8741700" cy="179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25"/>
              <a:buFont typeface="Arial"/>
              <a:buNone/>
            </a:pPr>
            <a:r>
              <a:rPr lang="en-IN" sz="1725" b="0" i="0" u="none" strike="noStrike" cap="none">
                <a:solidFill>
                  <a:srgbClr val="292929"/>
                </a:solidFill>
                <a:latin typeface="Garamond"/>
                <a:ea typeface="Garamond"/>
                <a:cs typeface="Garamond"/>
                <a:sym typeface="Garamond"/>
              </a:rPr>
              <a:t>We are using the sentence, “European authorities fined Google a record $5.1 billion on Wednesday for abusing its power in the mobile phone market and ordered the company to alter its practices.”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725"/>
              <a:buFont typeface="Arial"/>
              <a:buNone/>
            </a:pPr>
            <a:endParaRPr sz="1725" b="0" i="0" u="none" strike="noStrike" cap="none">
              <a:solidFill>
                <a:srgbClr val="292929"/>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725"/>
              <a:buFont typeface="Arial"/>
              <a:buNone/>
            </a:pPr>
            <a:r>
              <a:rPr lang="en-IN" sz="1725" b="0" i="0" u="none" strike="noStrike" cap="none">
                <a:solidFill>
                  <a:srgbClr val="292929"/>
                </a:solidFill>
                <a:latin typeface="Garamond"/>
                <a:ea typeface="Garamond"/>
                <a:cs typeface="Garamond"/>
                <a:sym typeface="Garamond"/>
              </a:rPr>
              <a:t>One of the nice things about Spacy is that we only need to apply nlp once, the entire background pipeline will return the objects.</a:t>
            </a:r>
            <a:endParaRPr sz="1725" b="0" i="0" u="none" strike="noStrike" cap="none">
              <a:solidFill>
                <a:schemeClr val="dk1"/>
              </a:solidFill>
              <a:latin typeface="Garamond"/>
              <a:ea typeface="Garamond"/>
              <a:cs typeface="Garamond"/>
              <a:sym typeface="Garamond"/>
            </a:endParaRPr>
          </a:p>
        </p:txBody>
      </p:sp>
      <p:pic>
        <p:nvPicPr>
          <p:cNvPr id="178" name="Google Shape;178;p13" descr="Image for post"/>
          <p:cNvPicPr preferRelativeResize="0"/>
          <p:nvPr/>
        </p:nvPicPr>
        <p:blipFill rotWithShape="1">
          <a:blip r:embed="rId3">
            <a:alphaModFix/>
          </a:blip>
          <a:srcRect/>
          <a:stretch/>
        </p:blipFill>
        <p:spPr>
          <a:xfrm>
            <a:off x="82296" y="3116100"/>
            <a:ext cx="4010025" cy="1171575"/>
          </a:xfrm>
          <a:prstGeom prst="rect">
            <a:avLst/>
          </a:prstGeom>
          <a:noFill/>
          <a:ln>
            <a:noFill/>
          </a:ln>
        </p:spPr>
      </p:pic>
      <p:sp>
        <p:nvSpPr>
          <p:cNvPr id="179" name="Google Shape;179;p13"/>
          <p:cNvSpPr/>
          <p:nvPr/>
        </p:nvSpPr>
        <p:spPr>
          <a:xfrm>
            <a:off x="4111371" y="3122287"/>
            <a:ext cx="4572000"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50"/>
              <a:buFont typeface="Arial"/>
              <a:buNone/>
            </a:pPr>
            <a:r>
              <a:rPr lang="en-IN" sz="1650" b="0" i="0" u="none" strike="noStrike" cap="none">
                <a:solidFill>
                  <a:srgbClr val="292929"/>
                </a:solidFill>
                <a:latin typeface="Garamond"/>
                <a:ea typeface="Garamond"/>
                <a:cs typeface="Garamond"/>
                <a:sym typeface="Garamond"/>
              </a:rPr>
              <a:t>European is NORP (nationalities or religious or political groups), Google is an organization, $5.1 billion is monetary value and Wednesday is a date object. </a:t>
            </a:r>
            <a:endParaRPr sz="1650" b="0" i="0" u="none" strike="noStrike" cap="none">
              <a:solidFill>
                <a:schemeClr val="dk1"/>
              </a:solidFill>
              <a:latin typeface="Garamond"/>
              <a:ea typeface="Garamond"/>
              <a:cs typeface="Garamond"/>
              <a:sym typeface="Garamond"/>
            </a:endParaRPr>
          </a:p>
        </p:txBody>
      </p:sp>
      <p:sp>
        <p:nvSpPr>
          <p:cNvPr id="180" name="Google Shape;180;p13"/>
          <p:cNvSpPr/>
          <p:nvPr/>
        </p:nvSpPr>
        <p:spPr>
          <a:xfrm>
            <a:off x="82300" y="0"/>
            <a:ext cx="4254600" cy="630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IN" sz="3500" b="0" i="0" u="none" strike="noStrike" cap="none">
                <a:solidFill>
                  <a:srgbClr val="FF6700"/>
                </a:solidFill>
                <a:latin typeface="Garamond"/>
                <a:ea typeface="Garamond"/>
                <a:cs typeface="Garamond"/>
                <a:sym typeface="Garamond"/>
              </a:rPr>
              <a:t>Spacy for NER : Entity</a:t>
            </a:r>
            <a:endParaRPr sz="3500" b="0" i="0" u="none" strike="noStrike" cap="none">
              <a:solidFill>
                <a:srgbClr val="FF6700"/>
              </a:solidFill>
              <a:latin typeface="Garamond"/>
              <a:ea typeface="Garamond"/>
              <a:cs typeface="Garamond"/>
              <a:sym typeface="Garamon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4"/>
          <p:cNvSpPr/>
          <p:nvPr/>
        </p:nvSpPr>
        <p:spPr>
          <a:xfrm>
            <a:off x="0" y="944337"/>
            <a:ext cx="8695944"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IN" sz="1500" b="0" i="0" u="none" strike="noStrike" cap="none">
                <a:solidFill>
                  <a:srgbClr val="292929"/>
                </a:solidFill>
                <a:latin typeface="Garamond"/>
                <a:ea typeface="Garamond"/>
                <a:cs typeface="Garamond"/>
                <a:sym typeface="Garamond"/>
              </a:rPr>
              <a:t>During the above example, we were working on entity level, in the following example, we are demonstrating token-level entity annotation using the BILUO tagging scheme to describe the entity boundaries.</a:t>
            </a:r>
            <a:endParaRPr sz="1500" b="0" i="0" u="none" strike="noStrike" cap="none">
              <a:solidFill>
                <a:schemeClr val="dk1"/>
              </a:solidFill>
              <a:latin typeface="Garamond"/>
              <a:ea typeface="Garamond"/>
              <a:cs typeface="Garamond"/>
              <a:sym typeface="Garamond"/>
            </a:endParaRPr>
          </a:p>
        </p:txBody>
      </p:sp>
      <p:pic>
        <p:nvPicPr>
          <p:cNvPr id="186" name="Google Shape;186;p14" descr="Image for post"/>
          <p:cNvPicPr preferRelativeResize="0"/>
          <p:nvPr/>
        </p:nvPicPr>
        <p:blipFill rotWithShape="1">
          <a:blip r:embed="rId3">
            <a:alphaModFix/>
          </a:blip>
          <a:srcRect/>
          <a:stretch/>
        </p:blipFill>
        <p:spPr>
          <a:xfrm>
            <a:off x="165094" y="2041398"/>
            <a:ext cx="4798434" cy="2532507"/>
          </a:xfrm>
          <a:prstGeom prst="rect">
            <a:avLst/>
          </a:prstGeom>
          <a:noFill/>
          <a:ln>
            <a:noFill/>
          </a:ln>
        </p:spPr>
      </p:pic>
      <p:sp>
        <p:nvSpPr>
          <p:cNvPr id="189" name="Google Shape;189;p14"/>
          <p:cNvSpPr/>
          <p:nvPr/>
        </p:nvSpPr>
        <p:spPr>
          <a:xfrm>
            <a:off x="-76200" y="0"/>
            <a:ext cx="4254691" cy="63094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IN" sz="3500" b="0" i="0" u="none" strike="noStrike" cap="none">
                <a:solidFill>
                  <a:srgbClr val="FF6700"/>
                </a:solidFill>
                <a:latin typeface="Garamond"/>
                <a:ea typeface="Garamond"/>
                <a:cs typeface="Garamond"/>
                <a:sym typeface="Garamond"/>
              </a:rPr>
              <a:t>Spacy for NER : Token</a:t>
            </a:r>
            <a:endParaRPr sz="3500" b="0" i="0" u="none" strike="noStrike" cap="none">
              <a:solidFill>
                <a:srgbClr val="FF6700"/>
              </a:solidFill>
              <a:latin typeface="Garamond"/>
              <a:ea typeface="Garamond"/>
              <a:cs typeface="Garamond"/>
              <a:sym typeface="Garamond"/>
            </a:endParaRPr>
          </a:p>
        </p:txBody>
      </p:sp>
      <p:pic>
        <p:nvPicPr>
          <p:cNvPr id="3" name="Picture 2">
            <a:extLst>
              <a:ext uri="{FF2B5EF4-FFF2-40B4-BE49-F238E27FC236}">
                <a16:creationId xmlns:a16="http://schemas.microsoft.com/office/drawing/2014/main" id="{5A09511A-030D-E31F-0FAB-4BEAA4B0910B}"/>
              </a:ext>
            </a:extLst>
          </p:cNvPr>
          <p:cNvPicPr>
            <a:picLocks noChangeAspect="1"/>
          </p:cNvPicPr>
          <p:nvPr/>
        </p:nvPicPr>
        <p:blipFill>
          <a:blip r:embed="rId4"/>
          <a:stretch>
            <a:fillRect/>
          </a:stretch>
        </p:blipFill>
        <p:spPr>
          <a:xfrm>
            <a:off x="4873202" y="2041398"/>
            <a:ext cx="3898243" cy="27292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476BC1-AD29-748A-2539-9C7FE9F08F2F}"/>
              </a:ext>
            </a:extLst>
          </p:cNvPr>
          <p:cNvPicPr>
            <a:picLocks noChangeAspect="1"/>
          </p:cNvPicPr>
          <p:nvPr/>
        </p:nvPicPr>
        <p:blipFill>
          <a:blip r:embed="rId2"/>
          <a:stretch>
            <a:fillRect/>
          </a:stretch>
        </p:blipFill>
        <p:spPr>
          <a:xfrm>
            <a:off x="348415" y="159599"/>
            <a:ext cx="5829805" cy="4892464"/>
          </a:xfrm>
          <a:prstGeom prst="rect">
            <a:avLst/>
          </a:prstGeom>
        </p:spPr>
      </p:pic>
    </p:spTree>
    <p:extLst>
      <p:ext uri="{BB962C8B-B14F-4D97-AF65-F5344CB8AC3E}">
        <p14:creationId xmlns:p14="http://schemas.microsoft.com/office/powerpoint/2010/main" val="3957020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5"/>
          <p:cNvSpPr/>
          <p:nvPr/>
        </p:nvSpPr>
        <p:spPr>
          <a:xfrm>
            <a:off x="0" y="0"/>
            <a:ext cx="7258077" cy="63094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IN" sz="3500" b="0" i="0" u="none" strike="noStrike" cap="none">
                <a:solidFill>
                  <a:srgbClr val="FF6700"/>
                </a:solidFill>
                <a:latin typeface="Garamond"/>
                <a:ea typeface="Garamond"/>
                <a:cs typeface="Garamond"/>
                <a:sym typeface="Garamond"/>
              </a:rPr>
              <a:t>Extracting Named Entity from an article</a:t>
            </a:r>
            <a:endParaRPr sz="1400" b="0" i="0" u="none" strike="noStrike" cap="none">
              <a:solidFill>
                <a:srgbClr val="000000"/>
              </a:solidFill>
              <a:latin typeface="Arial"/>
              <a:ea typeface="Arial"/>
              <a:cs typeface="Arial"/>
              <a:sym typeface="Arial"/>
            </a:endParaRPr>
          </a:p>
        </p:txBody>
      </p:sp>
      <p:sp>
        <p:nvSpPr>
          <p:cNvPr id="195" name="Google Shape;195;p15"/>
          <p:cNvSpPr/>
          <p:nvPr/>
        </p:nvSpPr>
        <p:spPr>
          <a:xfrm>
            <a:off x="0" y="1103075"/>
            <a:ext cx="9067800" cy="55399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IN" sz="1500" b="0" i="0" u="none" strike="noStrike" cap="none">
                <a:solidFill>
                  <a:srgbClr val="292929"/>
                </a:solidFill>
                <a:latin typeface="Garamond"/>
                <a:ea typeface="Garamond"/>
                <a:cs typeface="Garamond"/>
                <a:sym typeface="Garamond"/>
              </a:rPr>
              <a:t>Extracting named entities from a New York Times article, — “</a:t>
            </a:r>
            <a:r>
              <a:rPr lang="en-IN" sz="1500" b="0" i="0" u="sng" strike="noStrike" cap="none">
                <a:solidFill>
                  <a:schemeClr val="dk1"/>
                </a:solidFill>
                <a:latin typeface="Garamond"/>
                <a:ea typeface="Garamond"/>
                <a:cs typeface="Garamond"/>
                <a:sym typeface="Garamond"/>
                <a:hlinkClick r:id="rId3">
                  <a:extLst>
                    <a:ext uri="{A12FA001-AC4F-418D-AE19-62706E023703}">
                      <ahyp:hlinkClr xmlns:ahyp="http://schemas.microsoft.com/office/drawing/2018/hyperlinkcolor" val="tx"/>
                    </a:ext>
                  </a:extLst>
                </a:hlinkClick>
              </a:rPr>
              <a:t>F.B.I. Agent Peter Strzok, Who Criticized Trump in Texts, Is Fired</a:t>
            </a:r>
            <a:r>
              <a:rPr lang="en-IN" sz="1500" b="0" i="0" u="none" strike="noStrike" cap="none">
                <a:solidFill>
                  <a:srgbClr val="292929"/>
                </a:solidFill>
                <a:latin typeface="Garamond"/>
                <a:ea typeface="Garamond"/>
                <a:cs typeface="Garamond"/>
                <a:sym typeface="Garamond"/>
              </a:rPr>
              <a:t>.”</a:t>
            </a:r>
            <a:endParaRPr sz="1500" b="0" i="0" u="none" strike="noStrike" cap="none">
              <a:solidFill>
                <a:schemeClr val="dk1"/>
              </a:solidFill>
              <a:latin typeface="Garamond"/>
              <a:ea typeface="Garamond"/>
              <a:cs typeface="Garamond"/>
              <a:sym typeface="Garamond"/>
            </a:endParaRPr>
          </a:p>
        </p:txBody>
      </p:sp>
      <p:sp>
        <p:nvSpPr>
          <p:cNvPr id="196" name="Google Shape;196;p15"/>
          <p:cNvSpPr/>
          <p:nvPr/>
        </p:nvSpPr>
        <p:spPr>
          <a:xfrm>
            <a:off x="64008" y="2128150"/>
            <a:ext cx="3419856" cy="5078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IN" sz="1350" b="0" i="0" u="none" strike="noStrike" cap="none">
                <a:solidFill>
                  <a:srgbClr val="292929"/>
                </a:solidFill>
                <a:latin typeface="Arial"/>
                <a:ea typeface="Arial"/>
                <a:cs typeface="Arial"/>
                <a:sym typeface="Arial"/>
              </a:rPr>
              <a:t>There are 153 entities in the article, and they are represented as 10 unique labels :</a:t>
            </a:r>
            <a:endParaRPr sz="1350" b="0" i="0" u="none" strike="noStrike" cap="none">
              <a:solidFill>
                <a:schemeClr val="dk1"/>
              </a:solidFill>
              <a:latin typeface="Calibri"/>
              <a:ea typeface="Calibri"/>
              <a:cs typeface="Calibri"/>
              <a:sym typeface="Calibri"/>
            </a:endParaRPr>
          </a:p>
        </p:txBody>
      </p:sp>
      <p:pic>
        <p:nvPicPr>
          <p:cNvPr id="197" name="Google Shape;197;p15" descr="Image for post"/>
          <p:cNvPicPr preferRelativeResize="0"/>
          <p:nvPr/>
        </p:nvPicPr>
        <p:blipFill rotWithShape="1">
          <a:blip r:embed="rId4">
            <a:alphaModFix/>
          </a:blip>
          <a:srcRect r="31878"/>
          <a:stretch/>
        </p:blipFill>
        <p:spPr>
          <a:xfrm>
            <a:off x="0" y="2689443"/>
            <a:ext cx="2971800" cy="2272892"/>
          </a:xfrm>
          <a:prstGeom prst="rect">
            <a:avLst/>
          </a:prstGeom>
          <a:noFill/>
          <a:ln>
            <a:noFill/>
          </a:ln>
        </p:spPr>
      </p:pic>
      <p:sp>
        <p:nvSpPr>
          <p:cNvPr id="198" name="Google Shape;198;p15"/>
          <p:cNvSpPr/>
          <p:nvPr/>
        </p:nvSpPr>
        <p:spPr>
          <a:xfrm>
            <a:off x="4699689" y="2128150"/>
            <a:ext cx="3637534" cy="3000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IN" sz="1350" b="0" i="0" u="none" strike="noStrike" cap="none">
                <a:solidFill>
                  <a:srgbClr val="292929"/>
                </a:solidFill>
                <a:latin typeface="Arial"/>
                <a:ea typeface="Arial"/>
                <a:cs typeface="Arial"/>
                <a:sym typeface="Arial"/>
              </a:rPr>
              <a:t>The following are three most frequent tokens.</a:t>
            </a:r>
            <a:endParaRPr sz="1350" b="0" i="0" u="none" strike="noStrike" cap="none">
              <a:solidFill>
                <a:schemeClr val="dk1"/>
              </a:solidFill>
              <a:latin typeface="Calibri"/>
              <a:ea typeface="Calibri"/>
              <a:cs typeface="Calibri"/>
              <a:sym typeface="Calibri"/>
            </a:endParaRPr>
          </a:p>
        </p:txBody>
      </p:sp>
      <p:pic>
        <p:nvPicPr>
          <p:cNvPr id="199" name="Google Shape;199;p15" descr="Image for post"/>
          <p:cNvPicPr preferRelativeResize="0"/>
          <p:nvPr/>
        </p:nvPicPr>
        <p:blipFill rotWithShape="1">
          <a:blip r:embed="rId5">
            <a:alphaModFix/>
          </a:blip>
          <a:srcRect/>
          <a:stretch/>
        </p:blipFill>
        <p:spPr>
          <a:xfrm>
            <a:off x="4781382" y="2575143"/>
            <a:ext cx="3817239" cy="28954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6"/>
          <p:cNvSpPr/>
          <p:nvPr/>
        </p:nvSpPr>
        <p:spPr>
          <a:xfrm>
            <a:off x="0" y="431360"/>
            <a:ext cx="4730334" cy="3808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75"/>
              <a:buFont typeface="Arial"/>
              <a:buNone/>
            </a:pPr>
            <a:r>
              <a:rPr lang="en-IN" sz="1875" b="0" i="0" u="none" strike="noStrike" cap="none">
                <a:solidFill>
                  <a:srgbClr val="292929"/>
                </a:solidFill>
                <a:latin typeface="Garamond"/>
                <a:ea typeface="Garamond"/>
                <a:cs typeface="Garamond"/>
                <a:sym typeface="Garamond"/>
              </a:rPr>
              <a:t>Let’s randomly select one sentence to learn more</a:t>
            </a:r>
            <a:endParaRPr sz="1875" b="0" i="0" u="none" strike="noStrike" cap="none">
              <a:solidFill>
                <a:schemeClr val="dk1"/>
              </a:solidFill>
              <a:latin typeface="Garamond"/>
              <a:ea typeface="Garamond"/>
              <a:cs typeface="Garamond"/>
              <a:sym typeface="Garamond"/>
            </a:endParaRPr>
          </a:p>
        </p:txBody>
      </p:sp>
      <p:pic>
        <p:nvPicPr>
          <p:cNvPr id="205" name="Google Shape;205;p16" descr="Image for post"/>
          <p:cNvPicPr preferRelativeResize="0"/>
          <p:nvPr/>
        </p:nvPicPr>
        <p:blipFill rotWithShape="1">
          <a:blip r:embed="rId3">
            <a:alphaModFix/>
          </a:blip>
          <a:srcRect/>
          <a:stretch/>
        </p:blipFill>
        <p:spPr>
          <a:xfrm>
            <a:off x="1" y="1179463"/>
            <a:ext cx="8182124" cy="276999"/>
          </a:xfrm>
          <a:prstGeom prst="rect">
            <a:avLst/>
          </a:prstGeom>
          <a:noFill/>
          <a:ln>
            <a:noFill/>
          </a:ln>
        </p:spPr>
      </p:pic>
      <p:sp>
        <p:nvSpPr>
          <p:cNvPr id="206" name="Google Shape;206;p16"/>
          <p:cNvSpPr/>
          <p:nvPr/>
        </p:nvSpPr>
        <p:spPr>
          <a:xfrm>
            <a:off x="0" y="1796177"/>
            <a:ext cx="437280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chemeClr val="dk1"/>
                </a:solidFill>
                <a:latin typeface="Garamond"/>
                <a:ea typeface="Garamond"/>
                <a:cs typeface="Garamond"/>
                <a:sym typeface="Garamond"/>
              </a:rPr>
              <a:t>Let’s run </a:t>
            </a:r>
            <a:r>
              <a:rPr lang="en-IN" sz="1600" b="0" i="0" u="sng" strike="noStrike" cap="none">
                <a:solidFill>
                  <a:schemeClr val="dk1"/>
                </a:solidFill>
                <a:latin typeface="Garamond"/>
                <a:ea typeface="Garamond"/>
                <a:cs typeface="Garamond"/>
                <a:sym typeface="Garamond"/>
                <a:hlinkClick r:id="rId4">
                  <a:extLst>
                    <a:ext uri="{A12FA001-AC4F-418D-AE19-62706E023703}">
                      <ahyp:hlinkClr xmlns:ahyp="http://schemas.microsoft.com/office/drawing/2018/hyperlinkcolor" val="tx"/>
                    </a:ext>
                  </a:extLst>
                </a:hlinkClick>
              </a:rPr>
              <a:t>displacy.render </a:t>
            </a:r>
            <a:r>
              <a:rPr lang="en-IN" sz="1600" b="0" i="0" u="none" strike="noStrike" cap="none">
                <a:solidFill>
                  <a:schemeClr val="dk1"/>
                </a:solidFill>
                <a:latin typeface="Garamond"/>
                <a:ea typeface="Garamond"/>
                <a:cs typeface="Garamond"/>
                <a:sym typeface="Garamond"/>
              </a:rPr>
              <a:t>to generate the raw markup.</a:t>
            </a:r>
            <a:endParaRPr sz="1600" b="0" i="0" u="none" strike="noStrike" cap="none">
              <a:solidFill>
                <a:schemeClr val="dk1"/>
              </a:solidFill>
              <a:latin typeface="Garamond"/>
              <a:ea typeface="Garamond"/>
              <a:cs typeface="Garamond"/>
              <a:sym typeface="Garamond"/>
            </a:endParaRPr>
          </a:p>
        </p:txBody>
      </p:sp>
      <p:pic>
        <p:nvPicPr>
          <p:cNvPr id="207" name="Google Shape;207;p16" descr="Image for post"/>
          <p:cNvPicPr preferRelativeResize="0"/>
          <p:nvPr/>
        </p:nvPicPr>
        <p:blipFill rotWithShape="1">
          <a:blip r:embed="rId5">
            <a:alphaModFix/>
          </a:blip>
          <a:srcRect/>
          <a:stretch/>
        </p:blipFill>
        <p:spPr>
          <a:xfrm>
            <a:off x="0" y="2472929"/>
            <a:ext cx="9144000" cy="769144"/>
          </a:xfrm>
          <a:prstGeom prst="rect">
            <a:avLst/>
          </a:prstGeom>
          <a:noFill/>
          <a:ln>
            <a:noFill/>
          </a:ln>
        </p:spPr>
      </p:pic>
      <p:sp>
        <p:nvSpPr>
          <p:cNvPr id="208" name="Google Shape;208;p16"/>
          <p:cNvSpPr/>
          <p:nvPr/>
        </p:nvSpPr>
        <p:spPr>
          <a:xfrm>
            <a:off x="75811" y="3761416"/>
            <a:ext cx="3096297"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rgbClr val="292929"/>
                </a:solidFill>
                <a:latin typeface="Garamond"/>
                <a:ea typeface="Garamond"/>
                <a:cs typeface="Garamond"/>
                <a:sym typeface="Garamond"/>
              </a:rPr>
              <a:t>One miss-classification here is F.B.I. </a:t>
            </a:r>
            <a:endParaRPr sz="1600" b="0" i="0" u="none" strike="noStrike" cap="none">
              <a:solidFill>
                <a:schemeClr val="dk1"/>
              </a:solidFill>
              <a:latin typeface="Garamond"/>
              <a:ea typeface="Garamond"/>
              <a:cs typeface="Garamond"/>
              <a:sym typeface="Garamon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7"/>
          <p:cNvSpPr/>
          <p:nvPr/>
        </p:nvSpPr>
        <p:spPr>
          <a:xfrm>
            <a:off x="-9525" y="28575"/>
            <a:ext cx="4022448" cy="3000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IN" sz="1350" b="0" i="0" u="none" strike="noStrike" cap="none">
                <a:solidFill>
                  <a:srgbClr val="292929"/>
                </a:solidFill>
                <a:latin typeface="Arial"/>
                <a:ea typeface="Arial"/>
                <a:cs typeface="Arial"/>
                <a:sym typeface="Arial"/>
              </a:rPr>
              <a:t>Extract part-of-speech and lemmatize this sentence</a:t>
            </a:r>
            <a:endParaRPr sz="1350" b="0" i="0" u="none" strike="noStrike" cap="none">
              <a:solidFill>
                <a:schemeClr val="dk1"/>
              </a:solidFill>
              <a:latin typeface="Calibri"/>
              <a:ea typeface="Calibri"/>
              <a:cs typeface="Calibri"/>
              <a:sym typeface="Calibri"/>
            </a:endParaRPr>
          </a:p>
        </p:txBody>
      </p:sp>
      <p:pic>
        <p:nvPicPr>
          <p:cNvPr id="214" name="Google Shape;214;p17" descr="Image for post"/>
          <p:cNvPicPr preferRelativeResize="0"/>
          <p:nvPr/>
        </p:nvPicPr>
        <p:blipFill rotWithShape="1">
          <a:blip r:embed="rId3">
            <a:alphaModFix/>
          </a:blip>
          <a:srcRect/>
          <a:stretch/>
        </p:blipFill>
        <p:spPr>
          <a:xfrm>
            <a:off x="369524" y="898398"/>
            <a:ext cx="4972707" cy="4155948"/>
          </a:xfrm>
          <a:prstGeom prst="rect">
            <a:avLst/>
          </a:prstGeom>
          <a:noFill/>
          <a:ln>
            <a:noFill/>
          </a:ln>
        </p:spPr>
      </p:pic>
      <p:pic>
        <p:nvPicPr>
          <p:cNvPr id="215" name="Google Shape;215;p17" descr="Image for post"/>
          <p:cNvPicPr preferRelativeResize="0"/>
          <p:nvPr/>
        </p:nvPicPr>
        <p:blipFill rotWithShape="1">
          <a:blip r:embed="rId4">
            <a:alphaModFix/>
          </a:blip>
          <a:srcRect/>
          <a:stretch/>
        </p:blipFill>
        <p:spPr>
          <a:xfrm>
            <a:off x="5095494" y="1909984"/>
            <a:ext cx="3371850" cy="947516"/>
          </a:xfrm>
          <a:prstGeom prst="rect">
            <a:avLst/>
          </a:prstGeom>
          <a:noFill/>
          <a:ln>
            <a:noFill/>
          </a:ln>
        </p:spPr>
      </p:pic>
      <p:sp>
        <p:nvSpPr>
          <p:cNvPr id="216" name="Google Shape;216;p17"/>
          <p:cNvSpPr/>
          <p:nvPr/>
        </p:nvSpPr>
        <p:spPr>
          <a:xfrm>
            <a:off x="4618787" y="2976372"/>
            <a:ext cx="4572000" cy="3000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IN" sz="1350" b="0" i="0" u="none" strike="noStrike" cap="none">
                <a:solidFill>
                  <a:srgbClr val="292929"/>
                </a:solidFill>
                <a:latin typeface="Arial"/>
                <a:ea typeface="Arial"/>
                <a:cs typeface="Arial"/>
                <a:sym typeface="Arial"/>
              </a:rPr>
              <a:t>Named entity extraction are correct except “F.B.I”.</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20"/>
        <p:cNvGrpSpPr/>
        <p:nvPr/>
      </p:nvGrpSpPr>
      <p:grpSpPr>
        <a:xfrm>
          <a:off x="0" y="0"/>
          <a:ext cx="0" cy="0"/>
          <a:chOff x="0" y="0"/>
          <a:chExt cx="0" cy="0"/>
        </a:xfrm>
      </p:grpSpPr>
      <p:sp useBgFill="1">
        <p:nvSpPr>
          <p:cNvPr id="226" name="Rectangle 225">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7144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367715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Rectangle 229">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459968"/>
            <a:ext cx="8249304" cy="38487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Google Shape;221;p18"/>
          <p:cNvSpPr txBox="1"/>
          <p:nvPr/>
        </p:nvSpPr>
        <p:spPr>
          <a:xfrm>
            <a:off x="1143000" y="1077781"/>
            <a:ext cx="6858000" cy="2728827"/>
          </a:xfrm>
          <a:prstGeom prst="rect">
            <a:avLst/>
          </a:prstGeom>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buClr>
                <a:srgbClr val="000000"/>
              </a:buClr>
              <a:buSzPts val="3500"/>
            </a:pPr>
            <a:r>
              <a:rPr lang="en-US" sz="5700" kern="1200">
                <a:solidFill>
                  <a:schemeClr val="tx1"/>
                </a:solidFill>
                <a:latin typeface="+mj-lt"/>
                <a:ea typeface="+mj-ea"/>
                <a:cs typeface="+mj-cs"/>
                <a:sym typeface="Garamond"/>
              </a:rPr>
              <a:t>CRF Model</a:t>
            </a:r>
            <a:endParaRPr lang="en-US" sz="5700" b="0" i="0" u="none" strike="noStrike" kern="1200" cap="none">
              <a:solidFill>
                <a:schemeClr val="tx1"/>
              </a:solidFill>
              <a:latin typeface="+mj-lt"/>
              <a:ea typeface="+mj-ea"/>
              <a:cs typeface="+mj-cs"/>
              <a:sym typeface="Arial"/>
            </a:endParaRPr>
          </a:p>
        </p:txBody>
      </p:sp>
      <p:cxnSp>
        <p:nvCxnSpPr>
          <p:cNvPr id="232" name="Straight Connector 231">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5295590"/>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7144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13830"/>
            <a:ext cx="548639" cy="561217"/>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511628"/>
            <a:ext cx="8180615" cy="157843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DEA6A0F-1704-587B-DBDB-9C3AD1C14EA3}"/>
              </a:ext>
            </a:extLst>
          </p:cNvPr>
          <p:cNvSpPr txBox="1"/>
          <p:nvPr/>
        </p:nvSpPr>
        <p:spPr>
          <a:xfrm>
            <a:off x="783771" y="2514601"/>
            <a:ext cx="7455989" cy="260388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The Conditional Random Field (CRF) can be used as a sequence labelling technique for performing NER tagging. CRF is used to perform custom NER.</a:t>
            </a:r>
          </a:p>
          <a:p>
            <a:pPr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 </a:t>
            </a:r>
          </a:p>
          <a:p>
            <a:pPr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Conditional Random Fields are the class of probabilistic models. There are two terms in the CRF nomenclature that you need to keep in mind, which are as follows:</a:t>
            </a:r>
          </a:p>
          <a:p>
            <a:pPr indent="-228600">
              <a:lnSpc>
                <a:spcPct val="90000"/>
              </a:lnSpc>
              <a:spcAft>
                <a:spcPts val="600"/>
              </a:spcAft>
              <a:buFont typeface="Arial" panose="020B0604020202020204" pitchFamily="34" charset="0"/>
              <a:buChar char="•"/>
            </a:pPr>
            <a:endParaRPr lang="en-US" sz="1500" b="0" i="0" kern="1200">
              <a:solidFill>
                <a:schemeClr val="tx1"/>
              </a:solidFill>
              <a:effectLst/>
              <a:latin typeface="+mn-lt"/>
              <a:ea typeface="+mn-ea"/>
              <a:cs typeface="+mn-cs"/>
            </a:endParaRPr>
          </a:p>
          <a:p>
            <a:pPr indent="-228600">
              <a:lnSpc>
                <a:spcPct val="90000"/>
              </a:lnSpc>
              <a:spcAft>
                <a:spcPts val="600"/>
              </a:spcAft>
              <a:buFont typeface="Arial" panose="020B0604020202020204" pitchFamily="34" charset="0"/>
              <a:buChar char="•"/>
            </a:pPr>
            <a:r>
              <a:rPr lang="en-US" sz="1500" b="1" i="0" kern="1200">
                <a:solidFill>
                  <a:schemeClr val="tx1"/>
                </a:solidFill>
                <a:effectLst/>
                <a:latin typeface="+mn-lt"/>
                <a:ea typeface="+mn-ea"/>
                <a:cs typeface="+mn-cs"/>
              </a:rPr>
              <a:t>Random fields</a:t>
            </a:r>
            <a:r>
              <a:rPr lang="en-US" sz="1500" b="0" i="0" kern="1200">
                <a:solidFill>
                  <a:schemeClr val="tx1"/>
                </a:solidFill>
                <a:effectLst/>
                <a:latin typeface="+mn-lt"/>
                <a:ea typeface="+mn-ea"/>
                <a:cs typeface="+mn-cs"/>
              </a:rPr>
              <a:t>: These indicate that the CRF is probability a distribution-based machine learning model.</a:t>
            </a:r>
          </a:p>
          <a:p>
            <a:pPr indent="-228600">
              <a:lnSpc>
                <a:spcPct val="90000"/>
              </a:lnSpc>
              <a:spcAft>
                <a:spcPts val="600"/>
              </a:spcAft>
              <a:buFont typeface="Arial" panose="020B0604020202020204" pitchFamily="34" charset="0"/>
              <a:buChar char="•"/>
            </a:pPr>
            <a:r>
              <a:rPr lang="en-US" sz="1500" b="1" i="0" kern="1200">
                <a:solidFill>
                  <a:schemeClr val="tx1"/>
                </a:solidFill>
                <a:effectLst/>
                <a:latin typeface="+mn-lt"/>
                <a:ea typeface="+mn-ea"/>
                <a:cs typeface="+mn-cs"/>
              </a:rPr>
              <a:t>Conditional</a:t>
            </a:r>
            <a:r>
              <a:rPr lang="en-US" sz="1500" b="0" i="0" kern="1200">
                <a:solidFill>
                  <a:schemeClr val="tx1"/>
                </a:solidFill>
                <a:effectLst/>
                <a:latin typeface="+mn-lt"/>
                <a:ea typeface="+mn-ea"/>
                <a:cs typeface="+mn-cs"/>
              </a:rPr>
              <a:t>: This indicates that the probabilities are conditional probabilities.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5404427"/>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742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00050"/>
            <a:ext cx="8428482" cy="4914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DDE87FBF-401B-35F3-C754-0FEB46FED76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2600" y="1191069"/>
            <a:ext cx="8178799" cy="3332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0422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7B1722-FD11-1486-889B-3E992801F44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7" cy="1325617"/>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325618"/>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0"/>
            <a:ext cx="3057523" cy="1325617"/>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0"/>
            <a:ext cx="8799485" cy="133119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CA3FB3B-B400-9B6E-2128-AAD968E75901}"/>
              </a:ext>
            </a:extLst>
          </p:cNvPr>
          <p:cNvSpPr txBox="1"/>
          <p:nvPr/>
        </p:nvSpPr>
        <p:spPr>
          <a:xfrm>
            <a:off x="189800" y="1050986"/>
            <a:ext cx="7293023" cy="3069465"/>
          </a:xfrm>
          <a:prstGeom prst="rect">
            <a:avLst/>
          </a:prstGeom>
        </p:spPr>
        <p:txBody>
          <a:bodyPr vert="horz" lIns="91440" tIns="45720" rIns="91440" bIns="45720" rtlCol="0" anchor="ctr">
            <a:normAutofit/>
          </a:bodyPr>
          <a:lstStyle/>
          <a:p>
            <a:pPr>
              <a:lnSpc>
                <a:spcPct val="90000"/>
              </a:lnSpc>
              <a:spcAft>
                <a:spcPts val="600"/>
              </a:spcAft>
            </a:pPr>
            <a:r>
              <a:rPr lang="en-US" sz="1200" b="0" i="0" kern="1200" dirty="0">
                <a:solidFill>
                  <a:schemeClr val="tx1"/>
                </a:solidFill>
                <a:effectLst/>
                <a:latin typeface="+mn-lt"/>
                <a:ea typeface="+mn-ea"/>
                <a:cs typeface="+mn-cs"/>
              </a:rPr>
              <a:t>X1= ‘Google Inc. is headquartered in Silicon Valley.’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X2= ‘I went to New York.’</a:t>
            </a:r>
          </a:p>
          <a:p>
            <a:pPr indent="-228600">
              <a:lnSpc>
                <a:spcPct val="90000"/>
              </a:lnSpc>
              <a:spcAft>
                <a:spcPts val="600"/>
              </a:spcAft>
              <a:buFont typeface="Arial" panose="020B0604020202020204" pitchFamily="34" charset="0"/>
              <a:buChar char="•"/>
            </a:pPr>
            <a:r>
              <a:rPr lang="en-US" sz="1200" b="0" i="0" kern="1200" dirty="0">
                <a:solidFill>
                  <a:schemeClr val="tx1"/>
                </a:solidFill>
                <a:effectLst/>
                <a:latin typeface="+mn-lt"/>
                <a:ea typeface="+mn-ea"/>
                <a:cs typeface="+mn-cs"/>
              </a:rPr>
              <a:t> </a:t>
            </a:r>
          </a:p>
          <a:p>
            <a:pPr indent="-228600">
              <a:lnSpc>
                <a:spcPct val="90000"/>
              </a:lnSpc>
              <a:spcAft>
                <a:spcPts val="600"/>
              </a:spcAft>
              <a:buFont typeface="Arial" panose="020B0604020202020204" pitchFamily="34" charset="0"/>
              <a:buChar char="•"/>
            </a:pPr>
            <a:r>
              <a:rPr lang="en-US" sz="1200" b="0" i="0" kern="1200" dirty="0">
                <a:solidFill>
                  <a:schemeClr val="tx1"/>
                </a:solidFill>
                <a:effectLst/>
                <a:latin typeface="+mn-lt"/>
                <a:ea typeface="+mn-ea"/>
                <a:cs typeface="+mn-cs"/>
              </a:rPr>
              <a:t>In the training data set, the NER tags such as IOB tags are assigned manually, as shown below.</a:t>
            </a:r>
          </a:p>
          <a:p>
            <a:pPr indent="-228600">
              <a:lnSpc>
                <a:spcPct val="90000"/>
              </a:lnSpc>
              <a:spcAft>
                <a:spcPts val="600"/>
              </a:spcAft>
              <a:buFont typeface="Arial" panose="020B0604020202020204" pitchFamily="34" charset="0"/>
              <a:buChar char="•"/>
            </a:pPr>
            <a:r>
              <a:rPr lang="en-US" sz="1200" b="0" i="0" kern="1200" dirty="0">
                <a:solidFill>
                  <a:schemeClr val="tx1"/>
                </a:solidFill>
                <a:effectLst/>
                <a:latin typeface="+mn-lt"/>
                <a:ea typeface="+mn-ea"/>
                <a:cs typeface="+mn-cs"/>
              </a:rPr>
              <a:t> </a:t>
            </a:r>
          </a:p>
          <a:p>
            <a:pPr indent="-228600">
              <a:lnSpc>
                <a:spcPct val="90000"/>
              </a:lnSpc>
              <a:spcAft>
                <a:spcPts val="600"/>
              </a:spcAft>
              <a:buFont typeface="Arial" panose="020B0604020202020204" pitchFamily="34" charset="0"/>
              <a:buChar char="•"/>
            </a:pPr>
            <a:r>
              <a:rPr lang="en-US" sz="1200" b="0" i="0" kern="1200" dirty="0">
                <a:solidFill>
                  <a:schemeClr val="tx1"/>
                </a:solidFill>
                <a:effectLst/>
                <a:latin typeface="+mn-lt"/>
                <a:ea typeface="+mn-ea"/>
                <a:cs typeface="+mn-cs"/>
              </a:rPr>
              <a:t>X1= Google </a:t>
            </a:r>
            <a:r>
              <a:rPr lang="en-US" sz="1200" b="1" i="0" kern="1200" dirty="0">
                <a:solidFill>
                  <a:schemeClr val="tx1"/>
                </a:solidFill>
                <a:effectLst/>
                <a:latin typeface="+mn-lt"/>
                <a:ea typeface="+mn-ea"/>
                <a:cs typeface="+mn-cs"/>
              </a:rPr>
              <a:t>(B-ORG)</a:t>
            </a:r>
            <a:r>
              <a:rPr lang="en-US" sz="1200" b="0" i="0" kern="1200" dirty="0">
                <a:solidFill>
                  <a:schemeClr val="tx1"/>
                </a:solidFill>
                <a:effectLst/>
                <a:latin typeface="+mn-lt"/>
                <a:ea typeface="+mn-ea"/>
                <a:cs typeface="+mn-cs"/>
              </a:rPr>
              <a:t> Inc </a:t>
            </a:r>
            <a:r>
              <a:rPr lang="en-US" sz="1200" b="1" i="0" kern="1200" dirty="0">
                <a:solidFill>
                  <a:schemeClr val="tx1"/>
                </a:solidFill>
                <a:effectLst/>
                <a:latin typeface="+mn-lt"/>
                <a:ea typeface="+mn-ea"/>
                <a:cs typeface="+mn-cs"/>
              </a:rPr>
              <a:t>(I-ORG)</a:t>
            </a:r>
            <a:r>
              <a:rPr lang="en-US" sz="1200" b="0" i="0" kern="1200" dirty="0">
                <a:solidFill>
                  <a:schemeClr val="tx1"/>
                </a:solidFill>
                <a:effectLst/>
                <a:latin typeface="+mn-lt"/>
                <a:ea typeface="+mn-ea"/>
                <a:cs typeface="+mn-cs"/>
              </a:rPr>
              <a:t> is</a:t>
            </a:r>
            <a:r>
              <a:rPr lang="en-US" sz="1200" b="1" i="0" kern="1200" dirty="0">
                <a:solidFill>
                  <a:schemeClr val="tx1"/>
                </a:solidFill>
                <a:effectLst/>
                <a:latin typeface="+mn-lt"/>
                <a:ea typeface="+mn-ea"/>
                <a:cs typeface="+mn-cs"/>
              </a:rPr>
              <a:t> (O)</a:t>
            </a:r>
            <a:r>
              <a:rPr lang="en-US" sz="1200" b="0" i="0" kern="1200" dirty="0">
                <a:solidFill>
                  <a:schemeClr val="tx1"/>
                </a:solidFill>
                <a:effectLst/>
                <a:latin typeface="+mn-lt"/>
                <a:ea typeface="+mn-ea"/>
                <a:cs typeface="+mn-cs"/>
              </a:rPr>
              <a:t> headquartered</a:t>
            </a:r>
            <a:r>
              <a:rPr lang="en-US" sz="1200" b="1" i="0" kern="1200" dirty="0">
                <a:solidFill>
                  <a:schemeClr val="tx1"/>
                </a:solidFill>
                <a:effectLst/>
                <a:latin typeface="+mn-lt"/>
                <a:ea typeface="+mn-ea"/>
                <a:cs typeface="+mn-cs"/>
              </a:rPr>
              <a:t> (O) </a:t>
            </a:r>
            <a:r>
              <a:rPr lang="en-US" sz="1200" b="0" i="0" kern="1200" dirty="0">
                <a:solidFill>
                  <a:schemeClr val="tx1"/>
                </a:solidFill>
                <a:effectLst/>
                <a:latin typeface="+mn-lt"/>
                <a:ea typeface="+mn-ea"/>
                <a:cs typeface="+mn-cs"/>
              </a:rPr>
              <a:t>in </a:t>
            </a:r>
            <a:r>
              <a:rPr lang="en-US" sz="1200" b="1" i="0" kern="1200" dirty="0">
                <a:solidFill>
                  <a:schemeClr val="tx1"/>
                </a:solidFill>
                <a:effectLst/>
                <a:latin typeface="+mn-lt"/>
                <a:ea typeface="+mn-ea"/>
                <a:cs typeface="+mn-cs"/>
              </a:rPr>
              <a:t>(O) </a:t>
            </a:r>
            <a:r>
              <a:rPr lang="en-US" sz="1200" b="0" i="0" kern="1200" dirty="0">
                <a:solidFill>
                  <a:schemeClr val="tx1"/>
                </a:solidFill>
                <a:effectLst/>
                <a:latin typeface="+mn-lt"/>
                <a:ea typeface="+mn-ea"/>
                <a:cs typeface="+mn-cs"/>
              </a:rPr>
              <a:t>Silicon</a:t>
            </a:r>
            <a:r>
              <a:rPr lang="en-US" sz="1200" b="1" i="0" kern="1200" dirty="0">
                <a:solidFill>
                  <a:schemeClr val="tx1"/>
                </a:solidFill>
                <a:effectLst/>
                <a:latin typeface="+mn-lt"/>
                <a:ea typeface="+mn-ea"/>
                <a:cs typeface="+mn-cs"/>
              </a:rPr>
              <a:t> (B-LOC) </a:t>
            </a:r>
            <a:r>
              <a:rPr lang="en-US" sz="1200" b="0" i="0" kern="1200" dirty="0">
                <a:solidFill>
                  <a:schemeClr val="tx1"/>
                </a:solidFill>
                <a:effectLst/>
                <a:latin typeface="+mn-lt"/>
                <a:ea typeface="+mn-ea"/>
                <a:cs typeface="+mn-cs"/>
              </a:rPr>
              <a:t>Valley </a:t>
            </a:r>
            <a:r>
              <a:rPr lang="en-US" sz="1200" b="1" i="0" kern="1200" dirty="0">
                <a:solidFill>
                  <a:schemeClr val="tx1"/>
                </a:solidFill>
                <a:effectLst/>
                <a:latin typeface="+mn-lt"/>
                <a:ea typeface="+mn-ea"/>
                <a:cs typeface="+mn-cs"/>
              </a:rPr>
              <a:t>(I-LOC)</a:t>
            </a:r>
            <a:r>
              <a:rPr lang="en-US" sz="1200" b="0" i="0" kern="1200" dirty="0">
                <a:solidFill>
                  <a:schemeClr val="tx1"/>
                </a:solidFill>
                <a:effectLst/>
                <a:latin typeface="+mn-lt"/>
                <a:ea typeface="+mn-ea"/>
                <a:cs typeface="+mn-cs"/>
              </a:rPr>
              <a:t>. </a:t>
            </a:r>
          </a:p>
          <a:p>
            <a:pPr indent="-228600">
              <a:lnSpc>
                <a:spcPct val="90000"/>
              </a:lnSpc>
              <a:spcAft>
                <a:spcPts val="600"/>
              </a:spcAft>
              <a:buFont typeface="Arial" panose="020B0604020202020204" pitchFamily="34" charset="0"/>
              <a:buChar char="•"/>
            </a:pPr>
            <a:r>
              <a:rPr lang="en-US" sz="1200" b="0" i="0" kern="1200" dirty="0">
                <a:solidFill>
                  <a:schemeClr val="tx1"/>
                </a:solidFill>
                <a:effectLst/>
                <a:latin typeface="+mn-lt"/>
                <a:ea typeface="+mn-ea"/>
                <a:cs typeface="+mn-cs"/>
              </a:rPr>
              <a:t>X2= I </a:t>
            </a:r>
            <a:r>
              <a:rPr lang="en-US" sz="1200" b="1" i="0" kern="1200" dirty="0">
                <a:solidFill>
                  <a:schemeClr val="tx1"/>
                </a:solidFill>
                <a:effectLst/>
                <a:latin typeface="+mn-lt"/>
                <a:ea typeface="+mn-ea"/>
                <a:cs typeface="+mn-cs"/>
              </a:rPr>
              <a:t>(O)</a:t>
            </a:r>
            <a:r>
              <a:rPr lang="en-US" sz="1200" b="0" i="0" kern="1200" dirty="0">
                <a:solidFill>
                  <a:schemeClr val="tx1"/>
                </a:solidFill>
                <a:effectLst/>
                <a:latin typeface="+mn-lt"/>
                <a:ea typeface="+mn-ea"/>
                <a:cs typeface="+mn-cs"/>
              </a:rPr>
              <a:t> went </a:t>
            </a:r>
            <a:r>
              <a:rPr lang="en-US" sz="1200" b="1" i="0" kern="1200" dirty="0">
                <a:solidFill>
                  <a:schemeClr val="tx1"/>
                </a:solidFill>
                <a:effectLst/>
                <a:latin typeface="+mn-lt"/>
                <a:ea typeface="+mn-ea"/>
                <a:cs typeface="+mn-cs"/>
              </a:rPr>
              <a:t>(O)</a:t>
            </a:r>
            <a:r>
              <a:rPr lang="en-US" sz="1200" b="0" i="0" kern="1200" dirty="0">
                <a:solidFill>
                  <a:schemeClr val="tx1"/>
                </a:solidFill>
                <a:effectLst/>
                <a:latin typeface="+mn-lt"/>
                <a:ea typeface="+mn-ea"/>
                <a:cs typeface="+mn-cs"/>
              </a:rPr>
              <a:t> to </a:t>
            </a:r>
            <a:r>
              <a:rPr lang="en-US" sz="1200" b="1" i="0" kern="1200" dirty="0">
                <a:solidFill>
                  <a:schemeClr val="tx1"/>
                </a:solidFill>
                <a:effectLst/>
                <a:latin typeface="+mn-lt"/>
                <a:ea typeface="+mn-ea"/>
                <a:cs typeface="+mn-cs"/>
              </a:rPr>
              <a:t>(O) </a:t>
            </a:r>
            <a:r>
              <a:rPr lang="en-US" sz="1200" b="0" i="0" kern="1200" dirty="0">
                <a:solidFill>
                  <a:schemeClr val="tx1"/>
                </a:solidFill>
                <a:effectLst/>
                <a:latin typeface="+mn-lt"/>
                <a:ea typeface="+mn-ea"/>
                <a:cs typeface="+mn-cs"/>
              </a:rPr>
              <a:t>New</a:t>
            </a:r>
            <a:r>
              <a:rPr lang="en-US" sz="1200" b="1" i="0" kern="1200" dirty="0">
                <a:solidFill>
                  <a:schemeClr val="tx1"/>
                </a:solidFill>
                <a:effectLst/>
                <a:latin typeface="+mn-lt"/>
                <a:ea typeface="+mn-ea"/>
                <a:cs typeface="+mn-cs"/>
              </a:rPr>
              <a:t> (B-LOC)</a:t>
            </a:r>
            <a:r>
              <a:rPr lang="en-US" sz="1200" b="0" i="0" kern="1200" dirty="0">
                <a:solidFill>
                  <a:schemeClr val="tx1"/>
                </a:solidFill>
                <a:effectLst/>
                <a:latin typeface="+mn-lt"/>
                <a:ea typeface="+mn-ea"/>
                <a:cs typeface="+mn-cs"/>
              </a:rPr>
              <a:t> York</a:t>
            </a:r>
            <a:r>
              <a:rPr lang="en-US" sz="1200" b="1" i="0" kern="1200" dirty="0">
                <a:solidFill>
                  <a:schemeClr val="tx1"/>
                </a:solidFill>
                <a:effectLst/>
                <a:latin typeface="+mn-lt"/>
                <a:ea typeface="+mn-ea"/>
                <a:cs typeface="+mn-cs"/>
              </a:rPr>
              <a:t> (I-LOC).</a:t>
            </a:r>
            <a:endParaRPr lang="en-US" sz="1200" kern="1200" dirty="0">
              <a:solidFill>
                <a:schemeClr val="tx1"/>
              </a:solidFill>
              <a:latin typeface="+mn-lt"/>
              <a:ea typeface="+mn-ea"/>
              <a:cs typeface="+mn-cs"/>
            </a:endParaRPr>
          </a:p>
          <a:p>
            <a:pPr>
              <a:lnSpc>
                <a:spcPct val="90000"/>
              </a:lnSpc>
              <a:spcAft>
                <a:spcPts val="600"/>
              </a:spcAft>
            </a:pPr>
            <a:endParaRPr lang="en-US" sz="1200" kern="1200" dirty="0">
              <a:solidFill>
                <a:schemeClr val="tx1"/>
              </a:solidFill>
              <a:latin typeface="+mn-lt"/>
              <a:ea typeface="+mn-ea"/>
              <a:cs typeface="+mn-cs"/>
            </a:endParaRPr>
          </a:p>
          <a:p>
            <a:pPr>
              <a:lnSpc>
                <a:spcPct val="90000"/>
              </a:lnSpc>
              <a:spcAft>
                <a:spcPts val="600"/>
              </a:spcAft>
            </a:pPr>
            <a:r>
              <a:rPr lang="en-US" sz="1200" b="0" i="0" kern="1200" dirty="0">
                <a:solidFill>
                  <a:schemeClr val="tx1"/>
                </a:solidFill>
                <a:effectLst/>
                <a:latin typeface="+mn-lt"/>
                <a:ea typeface="+mn-ea"/>
                <a:cs typeface="+mn-cs"/>
              </a:rPr>
              <a:t>Where, ORG and LOC stand for organization and location, respectively.</a:t>
            </a:r>
          </a:p>
        </p:txBody>
      </p:sp>
      <p:pic>
        <p:nvPicPr>
          <p:cNvPr id="4" name="Picture 3">
            <a:extLst>
              <a:ext uri="{FF2B5EF4-FFF2-40B4-BE49-F238E27FC236}">
                <a16:creationId xmlns:a16="http://schemas.microsoft.com/office/drawing/2014/main" id="{A1F3C901-19DB-6A15-2AA9-513B25828F4D}"/>
              </a:ext>
            </a:extLst>
          </p:cNvPr>
          <p:cNvPicPr>
            <a:picLocks noChangeAspect="1"/>
          </p:cNvPicPr>
          <p:nvPr/>
        </p:nvPicPr>
        <p:blipFill>
          <a:blip r:embed="rId2"/>
          <a:stretch>
            <a:fillRect/>
          </a:stretch>
        </p:blipFill>
        <p:spPr>
          <a:xfrm>
            <a:off x="189800" y="3799069"/>
            <a:ext cx="5867908" cy="1729890"/>
          </a:xfrm>
          <a:prstGeom prst="rect">
            <a:avLst/>
          </a:prstGeom>
        </p:spPr>
      </p:pic>
    </p:spTree>
    <p:extLst>
      <p:ext uri="{BB962C8B-B14F-4D97-AF65-F5344CB8AC3E}">
        <p14:creationId xmlns:p14="http://schemas.microsoft.com/office/powerpoint/2010/main" val="2929406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F72A55-7EB0-C1C7-DF0F-D137C96D5C8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388668"/>
            <a:ext cx="9143997" cy="1325618"/>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391812"/>
            <a:ext cx="9138997" cy="1325618"/>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4387955"/>
            <a:ext cx="3057523" cy="1325618"/>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001" y="4386235"/>
            <a:ext cx="9143999" cy="1331195"/>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table with black text&#10;&#10;Description automatically generated">
            <a:extLst>
              <a:ext uri="{FF2B5EF4-FFF2-40B4-BE49-F238E27FC236}">
                <a16:creationId xmlns:a16="http://schemas.microsoft.com/office/drawing/2014/main" id="{BCD0E900-63D5-EC80-72D6-4B07A1D1423B}"/>
              </a:ext>
            </a:extLst>
          </p:cNvPr>
          <p:cNvPicPr>
            <a:picLocks noChangeAspect="1"/>
          </p:cNvPicPr>
          <p:nvPr/>
        </p:nvPicPr>
        <p:blipFill>
          <a:blip r:embed="rId2"/>
          <a:stretch>
            <a:fillRect/>
          </a:stretch>
        </p:blipFill>
        <p:spPr>
          <a:xfrm>
            <a:off x="1455192" y="366113"/>
            <a:ext cx="6233615" cy="2618118"/>
          </a:xfrm>
          <a:prstGeom prst="rect">
            <a:avLst/>
          </a:prstGeom>
        </p:spPr>
      </p:pic>
      <p:sp>
        <p:nvSpPr>
          <p:cNvPr id="5" name="TextBox 4">
            <a:extLst>
              <a:ext uri="{FF2B5EF4-FFF2-40B4-BE49-F238E27FC236}">
                <a16:creationId xmlns:a16="http://schemas.microsoft.com/office/drawing/2014/main" id="{DA73FBCD-3D23-53E1-EF34-9D9E28365C2C}"/>
              </a:ext>
            </a:extLst>
          </p:cNvPr>
          <p:cNvSpPr txBox="1"/>
          <p:nvPr/>
        </p:nvSpPr>
        <p:spPr>
          <a:xfrm>
            <a:off x="1455192" y="3194332"/>
            <a:ext cx="6249619" cy="933318"/>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200" b="0" i="0" kern="1200">
                <a:solidFill>
                  <a:schemeClr val="tx1"/>
                </a:solidFill>
                <a:effectLst/>
                <a:latin typeface="+mn-lt"/>
                <a:ea typeface="+mn-ea"/>
                <a:cs typeface="+mn-cs"/>
              </a:rPr>
              <a:t>So, for the input sentence ‘X’, there can be multiple combinations of IOB tags possible, and some of them are shown in the above table. The highlighted one is the correct combination, which is tagged manually in the training data set The model needs to train itself or assign the weights in such a way that it assigns the highest score to the correct combination.</a:t>
            </a:r>
            <a:endParaRPr lang="en-US" sz="1200" kern="1200">
              <a:solidFill>
                <a:schemeClr val="tx1"/>
              </a:solidFill>
              <a:latin typeface="+mn-lt"/>
              <a:ea typeface="+mn-ea"/>
              <a:cs typeface="+mn-cs"/>
            </a:endParaRPr>
          </a:p>
        </p:txBody>
      </p:sp>
    </p:spTree>
    <p:extLst>
      <p:ext uri="{BB962C8B-B14F-4D97-AF65-F5344CB8AC3E}">
        <p14:creationId xmlns:p14="http://schemas.microsoft.com/office/powerpoint/2010/main" val="2137608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C7B810-026B-5424-FB8D-A9A19A85639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391069"/>
            <a:ext cx="9143998" cy="1325618"/>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2457" y="4391069"/>
            <a:ext cx="9156457" cy="1325618"/>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74020" y="4389381"/>
            <a:ext cx="3069980" cy="1325619"/>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1" y="4389381"/>
            <a:ext cx="9149001" cy="942929"/>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3FA1AAC-C1ED-4F77-BFA4-BE80FC0AC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455" y="4398666"/>
            <a:ext cx="5802694" cy="1325618"/>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1E51C0E-EB8F-239E-ED77-339383D62C01}"/>
              </a:ext>
            </a:extLst>
          </p:cNvPr>
          <p:cNvSpPr txBox="1"/>
          <p:nvPr/>
        </p:nvSpPr>
        <p:spPr>
          <a:xfrm>
            <a:off x="1041157" y="686874"/>
            <a:ext cx="7240557" cy="319825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Some commonly used features in the CRF technique for NER applications are as follows:</a:t>
            </a:r>
          </a:p>
          <a:p>
            <a:pPr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You can build logic on the input word ‘xi’ and on the surrounding words, which could be ‘xi-1’ or ‘xi+1’.</a:t>
            </a:r>
          </a:p>
          <a:p>
            <a:pPr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The PoS tag of the word ‘xi’ and surrounding words.</a:t>
            </a:r>
          </a:p>
          <a:p>
            <a:pPr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Is a particular word present in a dictionary (dictionary of common names, dictionary of organic chemicals, etc.)</a:t>
            </a:r>
          </a:p>
          <a:p>
            <a:pPr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Word shapes:</a:t>
            </a:r>
          </a:p>
          <a:p>
            <a:pPr marL="742950" lvl="1"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26-03-2021 =&gt; dd-dd-dddd</a:t>
            </a:r>
          </a:p>
          <a:p>
            <a:pPr marL="742950" lvl="1"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26 Mar 2021 =&gt; dd Xxx dddd</a:t>
            </a:r>
          </a:p>
          <a:p>
            <a:pPr marL="742950" lvl="1"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W.H.O =&gt; X.X.X</a:t>
            </a:r>
          </a:p>
          <a:p>
            <a:pPr indent="-228600">
              <a:lnSpc>
                <a:spcPct val="90000"/>
              </a:lnSpc>
              <a:spcAft>
                <a:spcPts val="600"/>
              </a:spcAft>
              <a:buFont typeface="Arial" panose="020B0604020202020204" pitchFamily="34" charset="0"/>
              <a:buChar char="•"/>
            </a:pPr>
            <a:r>
              <a:rPr lang="en-US" sz="1500" b="0" i="0" kern="1200">
                <a:solidFill>
                  <a:schemeClr val="tx1"/>
                </a:solidFill>
                <a:effectLst/>
                <a:latin typeface="+mn-lt"/>
                <a:ea typeface="+mn-ea"/>
                <a:cs typeface="+mn-cs"/>
              </a:rPr>
              <a:t>Presence of prefix and suffixes </a:t>
            </a:r>
          </a:p>
        </p:txBody>
      </p:sp>
    </p:spTree>
    <p:extLst>
      <p:ext uri="{BB962C8B-B14F-4D97-AF65-F5344CB8AC3E}">
        <p14:creationId xmlns:p14="http://schemas.microsoft.com/office/powerpoint/2010/main" val="3457967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58A4F0-7664-7044-4D24-0A360FFD1E1B}"/>
            </a:ext>
          </a:extLst>
        </p:cNvPr>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F131BA35-25C3-0353-4866-731714315D45}"/>
              </a:ext>
            </a:extLst>
          </p:cNvPr>
          <p:cNvPicPr>
            <a:picLocks noChangeAspect="1"/>
          </p:cNvPicPr>
          <p:nvPr/>
        </p:nvPicPr>
        <p:blipFill>
          <a:blip r:embed="rId2"/>
          <a:stretch>
            <a:fillRect/>
          </a:stretch>
        </p:blipFill>
        <p:spPr>
          <a:xfrm>
            <a:off x="482600" y="669671"/>
            <a:ext cx="8178799" cy="4375656"/>
          </a:xfrm>
          <a:prstGeom prst="rect">
            <a:avLst/>
          </a:prstGeom>
        </p:spPr>
      </p:pic>
    </p:spTree>
    <p:extLst>
      <p:ext uri="{BB962C8B-B14F-4D97-AF65-F5344CB8AC3E}">
        <p14:creationId xmlns:p14="http://schemas.microsoft.com/office/powerpoint/2010/main" val="1408668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783E5F-1E6F-06F4-7682-B75CFB1F68E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301DE29-24F0-7DDE-3AEC-24F95AC2CE34}"/>
              </a:ext>
            </a:extLst>
          </p:cNvPr>
          <p:cNvPicPr>
            <a:picLocks noChangeAspect="1"/>
          </p:cNvPicPr>
          <p:nvPr/>
        </p:nvPicPr>
        <p:blipFill>
          <a:blip r:embed="rId2"/>
          <a:stretch>
            <a:fillRect/>
          </a:stretch>
        </p:blipFill>
        <p:spPr>
          <a:xfrm>
            <a:off x="482600" y="894587"/>
            <a:ext cx="8178799" cy="3925824"/>
          </a:xfrm>
          <a:prstGeom prst="rect">
            <a:avLst/>
          </a:prstGeom>
        </p:spPr>
      </p:pic>
    </p:spTree>
    <p:extLst>
      <p:ext uri="{BB962C8B-B14F-4D97-AF65-F5344CB8AC3E}">
        <p14:creationId xmlns:p14="http://schemas.microsoft.com/office/powerpoint/2010/main" val="2335175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35E63B-1EEF-10A4-9230-181693AC316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60609DA-D1CB-7202-2302-FE72F2B98D7C}"/>
              </a:ext>
            </a:extLst>
          </p:cNvPr>
          <p:cNvPicPr>
            <a:picLocks noChangeAspect="1"/>
          </p:cNvPicPr>
          <p:nvPr/>
        </p:nvPicPr>
        <p:blipFill>
          <a:blip r:embed="rId2"/>
          <a:stretch>
            <a:fillRect/>
          </a:stretch>
        </p:blipFill>
        <p:spPr>
          <a:xfrm>
            <a:off x="482600" y="1129727"/>
            <a:ext cx="8178799" cy="3455543"/>
          </a:xfrm>
          <a:prstGeom prst="rect">
            <a:avLst/>
          </a:prstGeom>
        </p:spPr>
      </p:pic>
    </p:spTree>
    <p:extLst>
      <p:ext uri="{BB962C8B-B14F-4D97-AF65-F5344CB8AC3E}">
        <p14:creationId xmlns:p14="http://schemas.microsoft.com/office/powerpoint/2010/main" val="1951875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DD664-3312-600B-CB68-1FB8110FD97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EC1DC3-B2DD-8FC1-3C2E-1564D4730A8E}"/>
              </a:ext>
            </a:extLst>
          </p:cNvPr>
          <p:cNvPicPr>
            <a:picLocks noChangeAspect="1"/>
          </p:cNvPicPr>
          <p:nvPr/>
        </p:nvPicPr>
        <p:blipFill>
          <a:blip r:embed="rId2"/>
          <a:stretch>
            <a:fillRect/>
          </a:stretch>
        </p:blipFill>
        <p:spPr>
          <a:xfrm>
            <a:off x="353973" y="594360"/>
            <a:ext cx="7135166" cy="3082444"/>
          </a:xfrm>
          <a:prstGeom prst="rect">
            <a:avLst/>
          </a:prstGeom>
        </p:spPr>
      </p:pic>
    </p:spTree>
    <p:extLst>
      <p:ext uri="{BB962C8B-B14F-4D97-AF65-F5344CB8AC3E}">
        <p14:creationId xmlns:p14="http://schemas.microsoft.com/office/powerpoint/2010/main" val="1058366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2885D6-BE12-BED4-4FAD-B5ED8845650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8950" y="0"/>
            <a:ext cx="6118093" cy="5715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5902" y="1533236"/>
            <a:ext cx="6118095" cy="4181406"/>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61634" y="260866"/>
            <a:ext cx="5714999" cy="5192552"/>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B621374-1A20-AE9E-C5FA-893027FCF96F}"/>
              </a:ext>
            </a:extLst>
          </p:cNvPr>
          <p:cNvPicPr>
            <a:picLocks noChangeAspect="1"/>
          </p:cNvPicPr>
          <p:nvPr/>
        </p:nvPicPr>
        <p:blipFill>
          <a:blip r:embed="rId2"/>
          <a:stretch>
            <a:fillRect/>
          </a:stretch>
        </p:blipFill>
        <p:spPr>
          <a:xfrm>
            <a:off x="342900" y="827532"/>
            <a:ext cx="8458200" cy="4059936"/>
          </a:xfrm>
          <a:prstGeom prst="rect">
            <a:avLst/>
          </a:prstGeom>
        </p:spPr>
      </p:pic>
    </p:spTree>
    <p:extLst>
      <p:ext uri="{BB962C8B-B14F-4D97-AF65-F5344CB8AC3E}">
        <p14:creationId xmlns:p14="http://schemas.microsoft.com/office/powerpoint/2010/main" val="14055555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8FBAE1-04C3-E1BC-6D0D-31517FB80F8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8950" y="0"/>
            <a:ext cx="6118093" cy="5715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5902" y="1533236"/>
            <a:ext cx="6118095" cy="4181406"/>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761634" y="260866"/>
            <a:ext cx="5714999" cy="5192552"/>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5D21D41-96A9-3989-55C6-B461C455E7A2}"/>
              </a:ext>
            </a:extLst>
          </p:cNvPr>
          <p:cNvPicPr>
            <a:picLocks noChangeAspect="1"/>
          </p:cNvPicPr>
          <p:nvPr/>
        </p:nvPicPr>
        <p:blipFill>
          <a:blip r:embed="rId2"/>
          <a:stretch>
            <a:fillRect/>
          </a:stretch>
        </p:blipFill>
        <p:spPr>
          <a:xfrm>
            <a:off x="342900" y="827532"/>
            <a:ext cx="8458200" cy="4059936"/>
          </a:xfrm>
          <a:prstGeom prst="rect">
            <a:avLst/>
          </a:prstGeom>
        </p:spPr>
      </p:pic>
    </p:spTree>
    <p:extLst>
      <p:ext uri="{BB962C8B-B14F-4D97-AF65-F5344CB8AC3E}">
        <p14:creationId xmlns:p14="http://schemas.microsoft.com/office/powerpoint/2010/main" val="48631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CC7E-114B-4E70-3F6D-A2E2C645A9B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0FD005-0D37-A584-D9C4-173DB61EA771}"/>
              </a:ext>
            </a:extLst>
          </p:cNvPr>
          <p:cNvPicPr>
            <a:picLocks noChangeAspect="1"/>
          </p:cNvPicPr>
          <p:nvPr/>
        </p:nvPicPr>
        <p:blipFill>
          <a:blip r:embed="rId2"/>
          <a:stretch>
            <a:fillRect/>
          </a:stretch>
        </p:blipFill>
        <p:spPr>
          <a:xfrm>
            <a:off x="670165" y="835286"/>
            <a:ext cx="6637416" cy="2864394"/>
          </a:xfrm>
          <a:prstGeom prst="rect">
            <a:avLst/>
          </a:prstGeom>
        </p:spPr>
      </p:pic>
    </p:spTree>
    <p:extLst>
      <p:ext uri="{BB962C8B-B14F-4D97-AF65-F5344CB8AC3E}">
        <p14:creationId xmlns:p14="http://schemas.microsoft.com/office/powerpoint/2010/main" val="3900354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59"/>
        <p:cNvGrpSpPr/>
        <p:nvPr/>
      </p:nvGrpSpPr>
      <p:grpSpPr>
        <a:xfrm>
          <a:off x="0" y="0"/>
          <a:ext cx="0" cy="0"/>
          <a:chOff x="0" y="0"/>
          <a:chExt cx="0" cy="0"/>
        </a:xfrm>
      </p:grpSpPr>
      <p:sp useBgFill="1">
        <p:nvSpPr>
          <p:cNvPr id="267" name="Rectangle 266">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7100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Google Shape;260;p25"/>
          <p:cNvSpPr txBox="1"/>
          <p:nvPr/>
        </p:nvSpPr>
        <p:spPr>
          <a:xfrm>
            <a:off x="4942996" y="3556526"/>
            <a:ext cx="3604497" cy="1080929"/>
          </a:xfrm>
          <a:prstGeom prst="rect">
            <a:avLst/>
          </a:prstGeom>
        </p:spPr>
        <p:txBody>
          <a:bodyPr spcFirstLastPara="1" vert="horz" lIns="91440" tIns="45720" rIns="91440" bIns="45720" rtlCol="0" anchor="t" anchorCtr="0">
            <a:normAutofit/>
          </a:bodyPr>
          <a:lstStyle/>
          <a:p>
            <a:pPr marL="0" marR="0" lvl="0" indent="0">
              <a:lnSpc>
                <a:spcPct val="90000"/>
              </a:lnSpc>
              <a:spcBef>
                <a:spcPct val="0"/>
              </a:spcBef>
              <a:spcAft>
                <a:spcPts val="600"/>
              </a:spcAft>
              <a:buClr>
                <a:srgbClr val="000000"/>
              </a:buClr>
              <a:buSzPts val="3500"/>
            </a:pPr>
            <a:r>
              <a:rPr lang="en-US" sz="3200" b="0" i="0" u="none" strike="noStrike" kern="1200" cap="none" dirty="0">
                <a:solidFill>
                  <a:schemeClr val="accent1"/>
                </a:solidFill>
                <a:latin typeface="+mj-lt"/>
                <a:ea typeface="+mj-ea"/>
                <a:cs typeface="+mj-cs"/>
                <a:sym typeface="Garamond"/>
              </a:rPr>
              <a:t>Thank you</a:t>
            </a:r>
            <a:endParaRPr lang="en-US" sz="3200" b="0" i="0" u="none" strike="noStrike" kern="1200" cap="none" dirty="0">
              <a:solidFill>
                <a:schemeClr val="accent1"/>
              </a:solidFill>
              <a:latin typeface="+mj-lt"/>
              <a:ea typeface="+mj-ea"/>
              <a:cs typeface="+mj-cs"/>
              <a:sym typeface="Arial"/>
            </a:endParaRPr>
          </a:p>
        </p:txBody>
      </p:sp>
      <p:pic>
        <p:nvPicPr>
          <p:cNvPr id="264" name="Graphic 263" descr="Smiling Face with No Fill">
            <a:extLst>
              <a:ext uri="{FF2B5EF4-FFF2-40B4-BE49-F238E27FC236}">
                <a16:creationId xmlns:a16="http://schemas.microsoft.com/office/drawing/2014/main" id="{B35FF95C-FB2D-9296-13A8-BB5C7BF8E99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5352" y="1685339"/>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71" name="Group 270">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4980"/>
            <a:ext cx="4679005" cy="5719982"/>
            <a:chOff x="305" y="-5977"/>
            <a:chExt cx="6238675" cy="6863979"/>
          </a:xfrm>
        </p:grpSpPr>
        <p:sp>
          <p:nvSpPr>
            <p:cNvPr id="272" name="Freeform: Shape 271">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3" name="Freeform: Shape 272">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4" name="Freeform: Shape 273">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264"/>
                                        </p:tgtEl>
                                        <p:attrNameLst>
                                          <p:attrName>style.visibility</p:attrName>
                                        </p:attrNameLst>
                                      </p:cBhvr>
                                      <p:to>
                                        <p:strVal val="visible"/>
                                      </p:to>
                                    </p:set>
                                    <p:animEffect transition="in" filter="fade">
                                      <p:cBhvr>
                                        <p:cTn id="7" dur="700"/>
                                        <p:tgtEl>
                                          <p:spTgt spid="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1308</Words>
  <Application>Microsoft Office PowerPoint</Application>
  <PresentationFormat>On-screen Show (16:10)</PresentationFormat>
  <Paragraphs>127</Paragraphs>
  <Slides>32</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Times New Roman</vt:lpstr>
      <vt:lpstr>Garamond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 2</dc:creator>
  <cp:lastModifiedBy>Trinadh Kumar Veeramachaneni</cp:lastModifiedBy>
  <cp:revision>3</cp:revision>
  <dcterms:created xsi:type="dcterms:W3CDTF">2015-09-01T10:28:05Z</dcterms:created>
  <dcterms:modified xsi:type="dcterms:W3CDTF">2025-03-09T04:11:22Z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10589979</vt:lpwstr>
  </property>
  <property fmtid="{D5CDD505-2E9C-101B-9397-08002B2CF9AE}" pid="3" name="NXPowerLiteSettings">
    <vt:lpwstr>F7000400038000</vt:lpwstr>
  </property>
  <property fmtid="{D5CDD505-2E9C-101B-9397-08002B2CF9AE}" pid="4" name="NXPowerLiteVersion">
    <vt:lpwstr>D7.1.1</vt:lpwstr>
  </property>
</Properties>
</file>